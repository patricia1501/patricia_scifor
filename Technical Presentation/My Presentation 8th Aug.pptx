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6" r:id="rId4"/>
  </p:sldMasterIdLst>
  <p:sldIdLst>
    <p:sldId id="257" r:id="rId5"/>
    <p:sldId id="258" r:id="rId6"/>
    <p:sldId id="260" r:id="rId7"/>
    <p:sldId id="261" r:id="rId8"/>
    <p:sldId id="267" r:id="rId9"/>
    <p:sldId id="265" r:id="rId10"/>
    <p:sldId id="266" r:id="rId11"/>
    <p:sldId id="262" r:id="rId12"/>
    <p:sldId id="264" r:id="rId13"/>
    <p:sldId id="268" r:id="rId14"/>
    <p:sldId id="269" r:id="rId15"/>
    <p:sldId id="270" r:id="rId16"/>
    <p:sldId id="271" r:id="rId17"/>
    <p:sldId id="27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A8B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5" d="100"/>
          <a:sy n="85" d="100"/>
        </p:scale>
        <p:origin x="59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8/8/2024</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583314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8/8/2024</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926706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8/8/2024</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041625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8/8/2024</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566630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8/8/2024</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0681946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8/8/2024</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118605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8/8/2024</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014226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8/8/2024</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9332822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8/8/2024</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232677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7D5506EE-1026-4F35-9ACC-BD05BE0F9B36}"/>
              </a:ext>
            </a:extLst>
          </p:cNvPr>
          <p:cNvSpPr>
            <a:spLocks noGrp="1"/>
          </p:cNvSpPr>
          <p:nvPr>
            <p:ph type="dt" sz="half" idx="10"/>
          </p:nvPr>
        </p:nvSpPr>
        <p:spPr/>
        <p:txBody>
          <a:bodyPr/>
          <a:lstStyle/>
          <a:p>
            <a:fld id="{B612A279-0833-481D-8C56-F67FD0AC6C50}" type="datetime1">
              <a:rPr lang="en-US" smtClean="0"/>
              <a:t>8/8/2024</a:t>
            </a:fld>
            <a:endParaRPr lang="en-US" dirty="0"/>
          </a:p>
        </p:txBody>
      </p:sp>
      <p:sp>
        <p:nvSpPr>
          <p:cNvPr id="8" name="Footer Placeholder 7">
            <a:extLst>
              <a:ext uri="{FF2B5EF4-FFF2-40B4-BE49-F238E27FC236}">
                <a16:creationId xmlns:a16="http://schemas.microsoft.com/office/drawing/2014/main" id="{B7696E5F-8D95-4450-AE52-5438E6EDE2BF}"/>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999B2253-74CC-409E-BEB0-F8EFCFCB562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6722698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1B68A5B-D9FA-424B-A4EB-30E7223836B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F33D6B0-F070-45C4-A472-19F432BE3932}"/>
              </a:ext>
            </a:extLst>
          </p:cNvPr>
          <p:cNvSpPr>
            <a:spLocks noGrp="1"/>
          </p:cNvSpPr>
          <p:nvPr>
            <p:ph type="dt" sz="half" idx="10"/>
          </p:nvPr>
        </p:nvSpPr>
        <p:spPr/>
        <p:txBody>
          <a:bodyPr/>
          <a:lstStyle/>
          <a:p>
            <a:fld id="{6587DA83-5663-4C9C-B9AA-0B40A3DAFF81}" type="datetime1">
              <a:rPr lang="en-US" smtClean="0"/>
              <a:t>8/8/2024</a:t>
            </a:fld>
            <a:endParaRPr lang="en-US" dirty="0"/>
          </a:p>
        </p:txBody>
      </p:sp>
      <p:sp>
        <p:nvSpPr>
          <p:cNvPr id="8" name="Footer Placeholder 7">
            <a:extLst>
              <a:ext uri="{FF2B5EF4-FFF2-40B4-BE49-F238E27FC236}">
                <a16:creationId xmlns:a16="http://schemas.microsoft.com/office/drawing/2014/main" id="{9975399F-DAB2-410D-967F-ED17E6F796E7}"/>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F762A46F-6BE5-4D12-9412-5CA7672EA8EC}"/>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618272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fld id="{62D6E202-B606-4609-B914-27C9371A1F6D}" type="datetime1">
              <a:rPr lang="en-US" smtClean="0"/>
              <a:t>8/8/2024</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4982234"/>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47" r:id="rId3"/>
    <p:sldLayoutId id="2147483743" r:id="rId4"/>
    <p:sldLayoutId id="2147483738" r:id="rId5"/>
    <p:sldLayoutId id="2147483732" r:id="rId6"/>
    <p:sldLayoutId id="2147483733" r:id="rId7"/>
    <p:sldLayoutId id="2147483734" r:id="rId8"/>
    <p:sldLayoutId id="2147483735" r:id="rId9"/>
    <p:sldLayoutId id="2147483736" r:id="rId10"/>
    <p:sldLayoutId id="2147483737" r:id="rId11"/>
  </p:sldLayoutIdLst>
  <p:hf sldNum="0" hdr="0" ftr="0" dt="0"/>
  <p:txStyles>
    <p:title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6.jpe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 Id="rId4" Type="http://schemas.openxmlformats.org/officeDocument/2006/relationships/image" Target="../media/image9.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A9286AD2-18A9-4868-A4E3-7A2097A208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1"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A8E9CFF2-3777-4FF4-A759-8491175B0B7C}"/>
              </a:ext>
            </a:extLst>
          </p:cNvPr>
          <p:cNvSpPr>
            <a:spLocks noGrp="1"/>
          </p:cNvSpPr>
          <p:nvPr>
            <p:ph type="subTitle" idx="1"/>
          </p:nvPr>
        </p:nvSpPr>
        <p:spPr>
          <a:xfrm>
            <a:off x="5289753" y="4672739"/>
            <a:ext cx="6269347" cy="1021498"/>
          </a:xfrm>
        </p:spPr>
        <p:txBody>
          <a:bodyPr>
            <a:normAutofit lnSpcReduction="10000"/>
          </a:bodyPr>
          <a:lstStyle/>
          <a:p>
            <a:r>
              <a:rPr lang="en-US" b="1" cap="none" dirty="0">
                <a:solidFill>
                  <a:schemeClr val="tx1">
                    <a:lumMod val="85000"/>
                    <a:lumOff val="15000"/>
                  </a:schemeClr>
                </a:solidFill>
                <a:latin typeface="Times New Roman" panose="02020603050405020304" pitchFamily="18" charset="0"/>
                <a:cs typeface="Times New Roman" panose="02020603050405020304" pitchFamily="18" charset="0"/>
              </a:rPr>
              <a:t>Presented By: </a:t>
            </a:r>
            <a:r>
              <a:rPr lang="en-US" cap="none" dirty="0">
                <a:solidFill>
                  <a:schemeClr val="tx1">
                    <a:lumMod val="85000"/>
                    <a:lumOff val="15000"/>
                  </a:schemeClr>
                </a:solidFill>
                <a:latin typeface="Times New Roman" panose="02020603050405020304" pitchFamily="18" charset="0"/>
                <a:cs typeface="Times New Roman" panose="02020603050405020304" pitchFamily="18" charset="0"/>
              </a:rPr>
              <a:t>Patricia Stanley</a:t>
            </a:r>
          </a:p>
          <a:p>
            <a:r>
              <a:rPr lang="en-US" b="1" cap="none" dirty="0">
                <a:solidFill>
                  <a:schemeClr val="tx1">
                    <a:lumMod val="85000"/>
                    <a:lumOff val="15000"/>
                  </a:schemeClr>
                </a:solidFill>
                <a:latin typeface="Times New Roman" panose="02020603050405020304" pitchFamily="18" charset="0"/>
                <a:cs typeface="Times New Roman" panose="02020603050405020304" pitchFamily="18" charset="0"/>
              </a:rPr>
              <a:t>Intern Id: </a:t>
            </a:r>
            <a:r>
              <a:rPr lang="en-IN" sz="2400" i="0" cap="none" dirty="0">
                <a:effectLst/>
                <a:latin typeface="Times New Roman" panose="02020603050405020304" pitchFamily="18" charset="0"/>
                <a:cs typeface="Times New Roman" panose="02020603050405020304" pitchFamily="18" charset="0"/>
              </a:rPr>
              <a:t>MST03-0053 </a:t>
            </a:r>
            <a:endParaRPr lang="en-US" cap="none" dirty="0">
              <a:solidFill>
                <a:schemeClr val="tx1">
                  <a:lumMod val="85000"/>
                  <a:lumOff val="15000"/>
                </a:schemeClr>
              </a:solidFill>
              <a:latin typeface="Times New Roman" panose="02020603050405020304" pitchFamily="18" charset="0"/>
              <a:cs typeface="Times New Roman" panose="02020603050405020304" pitchFamily="18" charset="0"/>
            </a:endParaRPr>
          </a:p>
        </p:txBody>
      </p:sp>
      <p:pic>
        <p:nvPicPr>
          <p:cNvPr id="5" name="Picture 4" descr="A picture containing building, sitting, bench, side&#10;&#10;Description automatically generated">
            <a:extLst>
              <a:ext uri="{FF2B5EF4-FFF2-40B4-BE49-F238E27FC236}">
                <a16:creationId xmlns:a16="http://schemas.microsoft.com/office/drawing/2014/main" id="{282CF6DD-7FE8-4063-9551-1B7BBCE92ABE}"/>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1" y="1"/>
            <a:ext cx="4635315" cy="6857999"/>
          </a:xfrm>
          <a:prstGeom prst="rect">
            <a:avLst/>
          </a:prstGeom>
        </p:spPr>
      </p:pic>
      <p:cxnSp>
        <p:nvCxnSpPr>
          <p:cNvPr id="24" name="Straight Connector 23">
            <a:extLst>
              <a:ext uri="{FF2B5EF4-FFF2-40B4-BE49-F238E27FC236}">
                <a16:creationId xmlns:a16="http://schemas.microsoft.com/office/drawing/2014/main" id="{E7A7CD63-7EC3-44F3-95D0-595C4019FF2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427754" y="4498925"/>
            <a:ext cx="5636107"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Subtitle 2">
            <a:extLst>
              <a:ext uri="{FF2B5EF4-FFF2-40B4-BE49-F238E27FC236}">
                <a16:creationId xmlns:a16="http://schemas.microsoft.com/office/drawing/2014/main" id="{DF101ACF-9332-0779-A0D0-F7CA4098D5F2}"/>
              </a:ext>
            </a:extLst>
          </p:cNvPr>
          <p:cNvSpPr txBox="1">
            <a:spLocks/>
          </p:cNvSpPr>
          <p:nvPr/>
        </p:nvSpPr>
        <p:spPr>
          <a:xfrm>
            <a:off x="5119423" y="1113752"/>
            <a:ext cx="6269347" cy="1021498"/>
          </a:xfrm>
          <a:prstGeom prst="rect">
            <a:avLst/>
          </a:prstGeom>
        </p:spPr>
        <p:txBody>
          <a:bodyPr vert="horz" lIns="91440" tIns="45720" rIns="91440" bIns="45720" rtlCol="0">
            <a:normAutofit/>
          </a:bodyPr>
          <a:lstStyle>
            <a:lvl1pPr marL="0" indent="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None/>
              <a:defRPr sz="2400" kern="1200" cap="all" spc="200" baseline="0">
                <a:solidFill>
                  <a:schemeClr val="tx1"/>
                </a:solidFill>
                <a:latin typeface="+mn-lt"/>
                <a:ea typeface="+mn-ea"/>
                <a:cs typeface="+mn-cs"/>
              </a:defRPr>
            </a:lvl1pPr>
            <a:lvl2pPr marL="457200" indent="0" algn="ctr" defTabSz="914400" rtl="0" eaLnBrk="1" latinLnBrk="0" hangingPunct="1">
              <a:lnSpc>
                <a:spcPct val="100000"/>
              </a:lnSpc>
              <a:spcBef>
                <a:spcPts val="200"/>
              </a:spcBef>
              <a:spcAft>
                <a:spcPts val="400"/>
              </a:spcAft>
              <a:buClrTx/>
              <a:buFont typeface="Calibri" pitchFamily="34" charset="0"/>
              <a:buNone/>
              <a:defRPr sz="2400" kern="1200">
                <a:solidFill>
                  <a:schemeClr val="tx1">
                    <a:lumMod val="75000"/>
                    <a:lumOff val="25000"/>
                  </a:schemeClr>
                </a:solidFill>
                <a:latin typeface="+mn-lt"/>
                <a:ea typeface="+mn-ea"/>
                <a:cs typeface="+mn-cs"/>
              </a:defRPr>
            </a:lvl2pPr>
            <a:lvl3pPr marL="914400" indent="0" algn="ctr" defTabSz="914400" rtl="0" eaLnBrk="1" latinLnBrk="0" hangingPunct="1">
              <a:lnSpc>
                <a:spcPct val="100000"/>
              </a:lnSpc>
              <a:spcBef>
                <a:spcPts val="200"/>
              </a:spcBef>
              <a:spcAft>
                <a:spcPts val="400"/>
              </a:spcAft>
              <a:buClrTx/>
              <a:buFont typeface="Calibri" pitchFamily="34" charset="0"/>
              <a:buNone/>
              <a:defRPr sz="2400" kern="1200">
                <a:solidFill>
                  <a:schemeClr val="tx1">
                    <a:lumMod val="75000"/>
                    <a:lumOff val="25000"/>
                  </a:schemeClr>
                </a:solidFill>
                <a:latin typeface="+mn-lt"/>
                <a:ea typeface="+mn-ea"/>
                <a:cs typeface="+mn-cs"/>
              </a:defRPr>
            </a:lvl3pPr>
            <a:lvl4pPr marL="1371600" indent="0" algn="ctr" defTabSz="914400" rtl="0" eaLnBrk="1" latinLnBrk="0" hangingPunct="1">
              <a:lnSpc>
                <a:spcPct val="100000"/>
              </a:lnSpc>
              <a:spcBef>
                <a:spcPts val="200"/>
              </a:spcBef>
              <a:spcAft>
                <a:spcPts val="400"/>
              </a:spcAft>
              <a:buClrTx/>
              <a:buFont typeface="Calibri" pitchFamily="34" charset="0"/>
              <a:buNone/>
              <a:defRPr sz="2000" kern="1200">
                <a:solidFill>
                  <a:schemeClr val="tx1">
                    <a:lumMod val="75000"/>
                    <a:lumOff val="25000"/>
                  </a:schemeClr>
                </a:solidFill>
                <a:latin typeface="+mn-lt"/>
                <a:ea typeface="+mn-ea"/>
                <a:cs typeface="+mn-cs"/>
              </a:defRPr>
            </a:lvl4pPr>
            <a:lvl5pPr marL="1828800" indent="0" algn="ctr" defTabSz="914400" rtl="0" eaLnBrk="1" latinLnBrk="0" hangingPunct="1">
              <a:lnSpc>
                <a:spcPct val="100000"/>
              </a:lnSpc>
              <a:spcBef>
                <a:spcPts val="200"/>
              </a:spcBef>
              <a:spcAft>
                <a:spcPts val="400"/>
              </a:spcAft>
              <a:buClrTx/>
              <a:buFont typeface="Calibri" pitchFamily="34" charset="0"/>
              <a:buNone/>
              <a:defRPr sz="2000" kern="1200">
                <a:solidFill>
                  <a:schemeClr val="tx1">
                    <a:lumMod val="75000"/>
                    <a:lumOff val="25000"/>
                  </a:schemeClr>
                </a:solidFill>
                <a:latin typeface="+mn-lt"/>
                <a:ea typeface="+mn-ea"/>
                <a:cs typeface="+mn-cs"/>
              </a:defRPr>
            </a:lvl5pPr>
            <a:lvl6pPr marL="22860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6pPr>
            <a:lvl7pPr marL="27432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7pPr>
            <a:lvl8pPr marL="32004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8pPr>
            <a:lvl9pPr marL="36576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9pPr>
          </a:lstStyle>
          <a:p>
            <a:endParaRPr lang="en-US" dirty="0">
              <a:solidFill>
                <a:schemeClr val="tx1">
                  <a:lumMod val="85000"/>
                  <a:lumOff val="15000"/>
                </a:schemeClr>
              </a:solidFill>
            </a:endParaRPr>
          </a:p>
        </p:txBody>
      </p:sp>
      <p:sp>
        <p:nvSpPr>
          <p:cNvPr id="8" name="TextBox 7">
            <a:extLst>
              <a:ext uri="{FF2B5EF4-FFF2-40B4-BE49-F238E27FC236}">
                <a16:creationId xmlns:a16="http://schemas.microsoft.com/office/drawing/2014/main" id="{A50EDBE4-AC7F-AFA2-CFD4-BC2CE49437C9}"/>
              </a:ext>
            </a:extLst>
          </p:cNvPr>
          <p:cNvSpPr txBox="1"/>
          <p:nvPr/>
        </p:nvSpPr>
        <p:spPr>
          <a:xfrm>
            <a:off x="4417406" y="875214"/>
            <a:ext cx="7078943" cy="138499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    TOPIC:</a:t>
            </a:r>
          </a:p>
          <a:p>
            <a:endParaRPr lang="en-IN" sz="2400" b="1" dirty="0">
              <a:latin typeface="Times New Roman" panose="02020603050405020304" pitchFamily="18" charset="0"/>
              <a:cs typeface="Times New Roman" panose="02020603050405020304" pitchFamily="18" charset="0"/>
            </a:endParaRPr>
          </a:p>
          <a:p>
            <a:pPr algn="ctr"/>
            <a:r>
              <a:rPr lang="en-IN" sz="3600" b="1" dirty="0">
                <a:solidFill>
                  <a:srgbClr val="002060"/>
                </a:solidFill>
                <a:latin typeface="Times New Roman" panose="02020603050405020304" pitchFamily="18" charset="0"/>
                <a:cs typeface="Times New Roman" panose="02020603050405020304" pitchFamily="18" charset="0"/>
              </a:rPr>
              <a:t>CNN </a:t>
            </a:r>
            <a:r>
              <a:rPr lang="en-IN" sz="3600" b="1">
                <a:solidFill>
                  <a:srgbClr val="002060"/>
                </a:solidFill>
                <a:latin typeface="Times New Roman" panose="02020603050405020304" pitchFamily="18" charset="0"/>
                <a:cs typeface="Times New Roman" panose="02020603050405020304" pitchFamily="18" charset="0"/>
              </a:rPr>
              <a:t>Image Classification</a:t>
            </a:r>
            <a:endParaRPr lang="en-IN" sz="3600" b="1"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437378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 name="Rectangle 46">
            <a:extLst>
              <a:ext uri="{FF2B5EF4-FFF2-40B4-BE49-F238E27FC236}">
                <a16:creationId xmlns:a16="http://schemas.microsoft.com/office/drawing/2014/main" id="{FBDCECDC-EEE3-4128-AA5E-82A8C08796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4260EDE0-989C-4E16-AF94-F652294D82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extBox 1">
            <a:extLst>
              <a:ext uri="{FF2B5EF4-FFF2-40B4-BE49-F238E27FC236}">
                <a16:creationId xmlns:a16="http://schemas.microsoft.com/office/drawing/2014/main" id="{B6F4B4AA-145C-6B66-360B-6EFD809E5269}"/>
              </a:ext>
            </a:extLst>
          </p:cNvPr>
          <p:cNvSpPr txBox="1"/>
          <p:nvPr/>
        </p:nvSpPr>
        <p:spPr>
          <a:xfrm>
            <a:off x="367552" y="197224"/>
            <a:ext cx="10676966" cy="4624599"/>
          </a:xfrm>
          <a:prstGeom prst="rect">
            <a:avLst/>
          </a:prstGeom>
          <a:noFill/>
        </p:spPr>
        <p:txBody>
          <a:bodyPr wrap="square" rtlCol="0">
            <a:spAutoFit/>
          </a:bodyPr>
          <a:lstStyle/>
          <a:p>
            <a:pPr>
              <a:lnSpc>
                <a:spcPct val="200000"/>
              </a:lnSpc>
            </a:pPr>
            <a:r>
              <a:rPr lang="en-IN" sz="2400" b="1" u="sng" dirty="0">
                <a:latin typeface="Times New Roman" panose="02020603050405020304" pitchFamily="18" charset="0"/>
                <a:cs typeface="Times New Roman" panose="02020603050405020304" pitchFamily="18" charset="0"/>
              </a:rPr>
              <a:t>Table of Contents:</a:t>
            </a:r>
          </a:p>
          <a:p>
            <a:pPr marL="285750" indent="-285750">
              <a:lnSpc>
                <a:spcPct val="200000"/>
              </a:lnSpc>
              <a:buFont typeface="Wingdings" panose="05000000000000000000" pitchFamily="2" charset="2"/>
              <a:buChar char="q"/>
            </a:pPr>
            <a:r>
              <a:rPr lang="en-IN" b="1" dirty="0">
                <a:latin typeface="Times New Roman" panose="02020603050405020304" pitchFamily="18" charset="0"/>
                <a:cs typeface="Times New Roman" panose="02020603050405020304" pitchFamily="18" charset="0"/>
              </a:rPr>
              <a:t> Image Classification</a:t>
            </a:r>
          </a:p>
          <a:p>
            <a:pPr marL="285750" indent="-285750">
              <a:lnSpc>
                <a:spcPct val="200000"/>
              </a:lnSpc>
              <a:buFont typeface="Wingdings" panose="05000000000000000000" pitchFamily="2" charset="2"/>
              <a:buChar char="q"/>
            </a:pPr>
            <a:r>
              <a:rPr lang="en-IN" b="1" dirty="0">
                <a:latin typeface="Times New Roman" panose="02020603050405020304" pitchFamily="18" charset="0"/>
                <a:cs typeface="Times New Roman" panose="02020603050405020304" pitchFamily="18" charset="0"/>
              </a:rPr>
              <a:t>CNN</a:t>
            </a:r>
          </a:p>
          <a:p>
            <a:pPr marL="285750" indent="-285750">
              <a:lnSpc>
                <a:spcPct val="200000"/>
              </a:lnSpc>
              <a:buFont typeface="Wingdings" panose="05000000000000000000" pitchFamily="2" charset="2"/>
              <a:buChar char="q"/>
            </a:pPr>
            <a:r>
              <a:rPr lang="en-IN" b="1" dirty="0">
                <a:latin typeface="Times New Roman" panose="02020603050405020304" pitchFamily="18" charset="0"/>
                <a:cs typeface="Times New Roman" panose="02020603050405020304" pitchFamily="18" charset="0"/>
              </a:rPr>
              <a:t>CNN Layers</a:t>
            </a:r>
          </a:p>
          <a:p>
            <a:pPr marL="285750" indent="-285750">
              <a:lnSpc>
                <a:spcPct val="200000"/>
              </a:lnSpc>
              <a:buFont typeface="Wingdings" panose="05000000000000000000" pitchFamily="2" charset="2"/>
              <a:buChar char="q"/>
            </a:pPr>
            <a:r>
              <a:rPr lang="en-IN" b="1" dirty="0">
                <a:latin typeface="Times New Roman" panose="02020603050405020304" pitchFamily="18" charset="0"/>
                <a:cs typeface="Times New Roman" panose="02020603050405020304" pitchFamily="18" charset="0"/>
              </a:rPr>
              <a:t>Activation Function and its types</a:t>
            </a:r>
          </a:p>
          <a:p>
            <a:pPr marL="285750" indent="-285750">
              <a:lnSpc>
                <a:spcPct val="200000"/>
              </a:lnSpc>
              <a:buFont typeface="Wingdings" panose="05000000000000000000" pitchFamily="2" charset="2"/>
              <a:buChar char="q"/>
            </a:pPr>
            <a:r>
              <a:rPr lang="en-IN" b="1" dirty="0">
                <a:latin typeface="Times New Roman" panose="02020603050405020304" pitchFamily="18" charset="0"/>
                <a:cs typeface="Times New Roman" panose="02020603050405020304" pitchFamily="18" charset="0"/>
              </a:rPr>
              <a:t>Project Overview</a:t>
            </a:r>
          </a:p>
          <a:p>
            <a:pPr marL="285750" indent="-285750">
              <a:lnSpc>
                <a:spcPct val="200000"/>
              </a:lnSpc>
              <a:buFont typeface="Wingdings" panose="05000000000000000000" pitchFamily="2" charset="2"/>
              <a:buChar char="q"/>
            </a:pPr>
            <a:endParaRPr lang="en-IN" dirty="0">
              <a:latin typeface="Times New Roman" panose="02020603050405020304" pitchFamily="18" charset="0"/>
              <a:cs typeface="Times New Roman" panose="02020603050405020304" pitchFamily="18" charset="0"/>
            </a:endParaRPr>
          </a:p>
          <a:p>
            <a:pPr marL="285750" indent="-285750">
              <a:lnSpc>
                <a:spcPct val="200000"/>
              </a:lnSpc>
              <a:buFont typeface="Wingdings" panose="05000000000000000000" pitchFamily="2" charset="2"/>
              <a:buChar char="q"/>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17146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 name="Rectangle 46">
            <a:extLst>
              <a:ext uri="{FF2B5EF4-FFF2-40B4-BE49-F238E27FC236}">
                <a16:creationId xmlns:a16="http://schemas.microsoft.com/office/drawing/2014/main" id="{FBDCECDC-EEE3-4128-AA5E-82A8C08796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Franklin Gothic Book" panose="020F0502020204030204"/>
              <a:ea typeface="+mn-ea"/>
              <a:cs typeface="+mn-cs"/>
            </a:endParaRPr>
          </a:p>
        </p:txBody>
      </p:sp>
      <p:sp>
        <p:nvSpPr>
          <p:cNvPr id="49" name="Rectangle 48">
            <a:extLst>
              <a:ext uri="{FF2B5EF4-FFF2-40B4-BE49-F238E27FC236}">
                <a16:creationId xmlns:a16="http://schemas.microsoft.com/office/drawing/2014/main" id="{4260EDE0-989C-4E16-AF94-F652294D82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extBox 1">
            <a:extLst>
              <a:ext uri="{FF2B5EF4-FFF2-40B4-BE49-F238E27FC236}">
                <a16:creationId xmlns:a16="http://schemas.microsoft.com/office/drawing/2014/main" id="{5B94FA5F-18D7-89E7-83E9-E1D96CFEB858}"/>
              </a:ext>
            </a:extLst>
          </p:cNvPr>
          <p:cNvSpPr txBox="1"/>
          <p:nvPr/>
        </p:nvSpPr>
        <p:spPr>
          <a:xfrm>
            <a:off x="395925" y="314981"/>
            <a:ext cx="11195440" cy="2062103"/>
          </a:xfrm>
          <a:prstGeom prst="rect">
            <a:avLst/>
          </a:prstGeom>
          <a:noFill/>
        </p:spPr>
        <p:txBody>
          <a:bodyPr wrap="square">
            <a:spAutoFit/>
          </a:bodyPr>
          <a:lstStyle/>
          <a:p>
            <a:pPr algn="just"/>
            <a:r>
              <a:rPr lang="en-US" sz="2000" b="1" dirty="0">
                <a:latin typeface="Times New Roman" panose="02020603050405020304" pitchFamily="18" charset="0"/>
                <a:cs typeface="Times New Roman" panose="02020603050405020304" pitchFamily="18" charset="0"/>
              </a:rPr>
              <a:t>What is Image Classification?</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Image classification is a task in computer vision where the goal is to categorize an image into one of several predefined classes or categories. The process involves using machine learning algorithms, typically deep learning models like convolutional neural networks (CNNs), to analyze the features of an image and make predictions about its class label. This technology is widely used in various applications such as facial recognition, autonomous driving, medical diagnostics, and more.</a:t>
            </a:r>
          </a:p>
        </p:txBody>
      </p:sp>
      <p:pic>
        <p:nvPicPr>
          <p:cNvPr id="3" name="Picture 2">
            <a:extLst>
              <a:ext uri="{FF2B5EF4-FFF2-40B4-BE49-F238E27FC236}">
                <a16:creationId xmlns:a16="http://schemas.microsoft.com/office/drawing/2014/main" id="{32180068-05BE-B754-B706-ABD78C24C298}"/>
              </a:ext>
            </a:extLst>
          </p:cNvPr>
          <p:cNvPicPr>
            <a:picLocks noChangeAspect="1"/>
          </p:cNvPicPr>
          <p:nvPr/>
        </p:nvPicPr>
        <p:blipFill>
          <a:blip r:embed="rId2"/>
          <a:stretch>
            <a:fillRect/>
          </a:stretch>
        </p:blipFill>
        <p:spPr>
          <a:xfrm>
            <a:off x="505003" y="2692065"/>
            <a:ext cx="10977283" cy="3754995"/>
          </a:xfrm>
          <a:prstGeom prst="rect">
            <a:avLst/>
          </a:prstGeom>
        </p:spPr>
      </p:pic>
    </p:spTree>
    <p:extLst>
      <p:ext uri="{BB962C8B-B14F-4D97-AF65-F5344CB8AC3E}">
        <p14:creationId xmlns:p14="http://schemas.microsoft.com/office/powerpoint/2010/main" val="28850555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 name="Rectangle 46">
            <a:extLst>
              <a:ext uri="{FF2B5EF4-FFF2-40B4-BE49-F238E27FC236}">
                <a16:creationId xmlns:a16="http://schemas.microsoft.com/office/drawing/2014/main" id="{FBDCECDC-EEE3-4128-AA5E-82A8C08796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Franklin Gothic Book" panose="020F0502020204030204"/>
              <a:ea typeface="+mn-ea"/>
              <a:cs typeface="+mn-cs"/>
            </a:endParaRPr>
          </a:p>
        </p:txBody>
      </p:sp>
      <p:sp>
        <p:nvSpPr>
          <p:cNvPr id="49" name="Rectangle 48">
            <a:extLst>
              <a:ext uri="{FF2B5EF4-FFF2-40B4-BE49-F238E27FC236}">
                <a16:creationId xmlns:a16="http://schemas.microsoft.com/office/drawing/2014/main" id="{4260EDE0-989C-4E16-AF94-F652294D82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extBox 1">
            <a:extLst>
              <a:ext uri="{FF2B5EF4-FFF2-40B4-BE49-F238E27FC236}">
                <a16:creationId xmlns:a16="http://schemas.microsoft.com/office/drawing/2014/main" id="{563FA339-8456-EC93-2BC6-6228F0713F17}"/>
              </a:ext>
            </a:extLst>
          </p:cNvPr>
          <p:cNvSpPr txBox="1"/>
          <p:nvPr/>
        </p:nvSpPr>
        <p:spPr>
          <a:xfrm>
            <a:off x="352766" y="206200"/>
            <a:ext cx="11426858" cy="1508105"/>
          </a:xfrm>
          <a:prstGeom prst="rect">
            <a:avLst/>
          </a:prstGeom>
          <a:noFill/>
        </p:spPr>
        <p:txBody>
          <a:bodyPr wrap="square">
            <a:spAutoFit/>
          </a:bodyPr>
          <a:lstStyle/>
          <a:p>
            <a:pPr algn="just"/>
            <a:r>
              <a:rPr lang="en-US" sz="2000" b="1" i="0" dirty="0">
                <a:effectLst/>
                <a:latin typeface="Times New Roman" panose="02020603050405020304" pitchFamily="18" charset="0"/>
                <a:cs typeface="Times New Roman" panose="02020603050405020304" pitchFamily="18" charset="0"/>
              </a:rPr>
              <a:t>What are Convolutional Neural Network (CNN) ?</a:t>
            </a:r>
          </a:p>
          <a:p>
            <a:pPr algn="just"/>
            <a:endParaRPr lang="en-US" b="0" i="0" dirty="0">
              <a:effectLst/>
              <a:latin typeface="Times New Roman" panose="02020603050405020304" pitchFamily="18" charset="0"/>
              <a:cs typeface="Times New Roman" panose="02020603050405020304" pitchFamily="18" charset="0"/>
            </a:endParaRPr>
          </a:p>
          <a:p>
            <a:pPr algn="just"/>
            <a:r>
              <a:rPr lang="en-US" b="0" i="0" dirty="0">
                <a:effectLst/>
                <a:latin typeface="Times New Roman" panose="02020603050405020304" pitchFamily="18" charset="0"/>
                <a:cs typeface="Times New Roman" panose="02020603050405020304" pitchFamily="18" charset="0"/>
              </a:rPr>
              <a:t>In deep learning, a convolutional neural network (CNN/</a:t>
            </a:r>
            <a:r>
              <a:rPr lang="en-US" b="0" i="0" dirty="0" err="1">
                <a:effectLst/>
                <a:latin typeface="Times New Roman" panose="02020603050405020304" pitchFamily="18" charset="0"/>
                <a:cs typeface="Times New Roman" panose="02020603050405020304" pitchFamily="18" charset="0"/>
              </a:rPr>
              <a:t>ConvNet</a:t>
            </a:r>
            <a:r>
              <a:rPr lang="en-US" b="0" i="0" dirty="0">
                <a:effectLst/>
                <a:latin typeface="Times New Roman" panose="02020603050405020304" pitchFamily="18" charset="0"/>
                <a:cs typeface="Times New Roman" panose="02020603050405020304" pitchFamily="18" charset="0"/>
              </a:rPr>
              <a:t>) is a class of deep neural networks, most commonly applied to analyze visual imagery. Convolutional networks use a process called convolution, which combines two functions to show how one changes the shape of the other.</a:t>
            </a:r>
          </a:p>
        </p:txBody>
      </p:sp>
      <p:pic>
        <p:nvPicPr>
          <p:cNvPr id="3" name="Picture 2">
            <a:extLst>
              <a:ext uri="{FF2B5EF4-FFF2-40B4-BE49-F238E27FC236}">
                <a16:creationId xmlns:a16="http://schemas.microsoft.com/office/drawing/2014/main" id="{F08E8A7B-3C26-E767-4DEB-10B76BBEB136}"/>
              </a:ext>
            </a:extLst>
          </p:cNvPr>
          <p:cNvPicPr>
            <a:picLocks noChangeAspect="1"/>
          </p:cNvPicPr>
          <p:nvPr/>
        </p:nvPicPr>
        <p:blipFill>
          <a:blip r:embed="rId2"/>
          <a:stretch>
            <a:fillRect/>
          </a:stretch>
        </p:blipFill>
        <p:spPr>
          <a:xfrm>
            <a:off x="1810238" y="2630802"/>
            <a:ext cx="7970255" cy="3084844"/>
          </a:xfrm>
          <a:prstGeom prst="rect">
            <a:avLst/>
          </a:prstGeom>
        </p:spPr>
      </p:pic>
    </p:spTree>
    <p:extLst>
      <p:ext uri="{BB962C8B-B14F-4D97-AF65-F5344CB8AC3E}">
        <p14:creationId xmlns:p14="http://schemas.microsoft.com/office/powerpoint/2010/main" val="2963273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 name="Rectangle 46">
            <a:extLst>
              <a:ext uri="{FF2B5EF4-FFF2-40B4-BE49-F238E27FC236}">
                <a16:creationId xmlns:a16="http://schemas.microsoft.com/office/drawing/2014/main" id="{FBDCECDC-EEE3-4128-AA5E-82A8C08796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Franklin Gothic Book" panose="020F0502020204030204"/>
              <a:ea typeface="+mn-ea"/>
              <a:cs typeface="+mn-cs"/>
            </a:endParaRPr>
          </a:p>
        </p:txBody>
      </p:sp>
      <p:sp>
        <p:nvSpPr>
          <p:cNvPr id="49" name="Rectangle 48">
            <a:extLst>
              <a:ext uri="{FF2B5EF4-FFF2-40B4-BE49-F238E27FC236}">
                <a16:creationId xmlns:a16="http://schemas.microsoft.com/office/drawing/2014/main" id="{4260EDE0-989C-4E16-AF94-F652294D82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extBox 1">
            <a:extLst>
              <a:ext uri="{FF2B5EF4-FFF2-40B4-BE49-F238E27FC236}">
                <a16:creationId xmlns:a16="http://schemas.microsoft.com/office/drawing/2014/main" id="{D773A79E-2EC0-3E65-146A-816B5EB86EA4}"/>
              </a:ext>
            </a:extLst>
          </p:cNvPr>
          <p:cNvSpPr txBox="1"/>
          <p:nvPr/>
        </p:nvSpPr>
        <p:spPr>
          <a:xfrm>
            <a:off x="519953" y="206187"/>
            <a:ext cx="6723529" cy="400110"/>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LAYERS OF CONVOLUTIONAL NEURAL NETWORK:</a:t>
            </a:r>
          </a:p>
        </p:txBody>
      </p:sp>
      <p:sp>
        <p:nvSpPr>
          <p:cNvPr id="4" name="TextBox 3">
            <a:extLst>
              <a:ext uri="{FF2B5EF4-FFF2-40B4-BE49-F238E27FC236}">
                <a16:creationId xmlns:a16="http://schemas.microsoft.com/office/drawing/2014/main" id="{1EDC6DDD-CFC2-346E-C271-8986A83328AD}"/>
              </a:ext>
            </a:extLst>
          </p:cNvPr>
          <p:cNvSpPr txBox="1"/>
          <p:nvPr/>
        </p:nvSpPr>
        <p:spPr>
          <a:xfrm>
            <a:off x="519936" y="848344"/>
            <a:ext cx="11152094" cy="3416320"/>
          </a:xfrm>
          <a:prstGeom prst="rect">
            <a:avLst/>
          </a:prstGeom>
          <a:noFill/>
        </p:spPr>
        <p:txBody>
          <a:bodyPr wrap="square">
            <a:spAutoFit/>
          </a:bodyPr>
          <a:lstStyle/>
          <a:p>
            <a:pPr algn="l"/>
            <a:r>
              <a:rPr lang="en-US" b="0" i="0" dirty="0">
                <a:effectLst/>
                <a:latin typeface="Times New Roman" panose="02020603050405020304" pitchFamily="18" charset="0"/>
                <a:cs typeface="Times New Roman" panose="02020603050405020304" pitchFamily="18" charset="0"/>
              </a:rPr>
              <a:t>Convolutional neural networks (CNNs) are a popular tool for image classification because of their hierarchical structure and ability to efficiently extract features from images. The layers in a CNN model are organized in three dimensions: depth, height, and width. Here are some layers that are commonly used in CNN models for image classification:</a:t>
            </a:r>
          </a:p>
          <a:p>
            <a:pPr algn="l"/>
            <a:r>
              <a:rPr lang="en-US" b="1" i="0" dirty="0">
                <a:effectLst/>
                <a:latin typeface="Times New Roman" panose="02020603050405020304" pitchFamily="18" charset="0"/>
                <a:cs typeface="Times New Roman" panose="02020603050405020304" pitchFamily="18" charset="0"/>
              </a:rPr>
              <a:t>Convolutional layer</a:t>
            </a:r>
          </a:p>
          <a:p>
            <a:pPr algn="l">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The first layer in a basic CNN model, which extracts features from input images and helps learn the relationship between pixels.</a:t>
            </a:r>
          </a:p>
          <a:p>
            <a:pPr algn="l"/>
            <a:r>
              <a:rPr lang="en-US" b="1" i="0" dirty="0">
                <a:effectLst/>
                <a:latin typeface="Times New Roman" panose="02020603050405020304" pitchFamily="18" charset="0"/>
                <a:cs typeface="Times New Roman" panose="02020603050405020304" pitchFamily="18" charset="0"/>
              </a:rPr>
              <a:t>Max Pooling layer</a:t>
            </a:r>
          </a:p>
          <a:p>
            <a:pPr algn="l">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Reduces the size of the feature maps from the previous convolutional layer. This layer can also help reduce computational cost and overfitting.</a:t>
            </a:r>
          </a:p>
          <a:p>
            <a:pPr algn="l"/>
            <a:r>
              <a:rPr lang="en-US" b="1" i="0" dirty="0">
                <a:effectLst/>
                <a:latin typeface="Times New Roman" panose="02020603050405020304" pitchFamily="18" charset="0"/>
                <a:cs typeface="Times New Roman" panose="02020603050405020304" pitchFamily="18" charset="0"/>
              </a:rPr>
              <a:t>Fully connected layer</a:t>
            </a:r>
          </a:p>
          <a:p>
            <a:pPr algn="l">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Also called a dense layer, this layer classifies images into different classes in the output layer.</a:t>
            </a:r>
          </a:p>
        </p:txBody>
      </p:sp>
    </p:spTree>
    <p:extLst>
      <p:ext uri="{BB962C8B-B14F-4D97-AF65-F5344CB8AC3E}">
        <p14:creationId xmlns:p14="http://schemas.microsoft.com/office/powerpoint/2010/main" val="33087707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 name="Rectangle 46">
            <a:extLst>
              <a:ext uri="{FF2B5EF4-FFF2-40B4-BE49-F238E27FC236}">
                <a16:creationId xmlns:a16="http://schemas.microsoft.com/office/drawing/2014/main" id="{FBDCECDC-EEE3-4128-AA5E-82A8C08796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Franklin Gothic Book" panose="020F0502020204030204"/>
              <a:ea typeface="+mn-ea"/>
              <a:cs typeface="+mn-cs"/>
            </a:endParaRPr>
          </a:p>
        </p:txBody>
      </p:sp>
      <p:sp>
        <p:nvSpPr>
          <p:cNvPr id="49" name="Rectangle 48">
            <a:extLst>
              <a:ext uri="{FF2B5EF4-FFF2-40B4-BE49-F238E27FC236}">
                <a16:creationId xmlns:a16="http://schemas.microsoft.com/office/drawing/2014/main" id="{4260EDE0-989C-4E16-AF94-F652294D82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TextBox 2">
            <a:extLst>
              <a:ext uri="{FF2B5EF4-FFF2-40B4-BE49-F238E27FC236}">
                <a16:creationId xmlns:a16="http://schemas.microsoft.com/office/drawing/2014/main" id="{DFC1BF16-4084-31B9-6B90-48A5E3BA594F}"/>
              </a:ext>
            </a:extLst>
          </p:cNvPr>
          <p:cNvSpPr txBox="1"/>
          <p:nvPr/>
        </p:nvSpPr>
        <p:spPr>
          <a:xfrm>
            <a:off x="322712" y="203128"/>
            <a:ext cx="11528629" cy="2031325"/>
          </a:xfrm>
          <a:prstGeom prst="rect">
            <a:avLst/>
          </a:prstGeom>
          <a:noFill/>
        </p:spPr>
        <p:txBody>
          <a:bodyPr wrap="square">
            <a:spAutoFit/>
          </a:bodyPr>
          <a:lstStyle/>
          <a:p>
            <a:pPr algn="just" fontAlgn="base"/>
            <a:r>
              <a:rPr lang="en-US" b="1" i="0" dirty="0">
                <a:effectLst/>
                <a:latin typeface="Times New Roman" panose="02020603050405020304" pitchFamily="18" charset="0"/>
                <a:cs typeface="Times New Roman" panose="02020603050405020304" pitchFamily="18" charset="0"/>
              </a:rPr>
              <a:t>What is an Activation Function?</a:t>
            </a:r>
          </a:p>
          <a:p>
            <a:pPr algn="just" rtl="0" fontAlgn="base"/>
            <a:r>
              <a:rPr lang="en-US" b="0" i="0" dirty="0">
                <a:effectLst/>
                <a:latin typeface="Times New Roman" panose="02020603050405020304" pitchFamily="18" charset="0"/>
                <a:cs typeface="Times New Roman" panose="02020603050405020304" pitchFamily="18" charset="0"/>
              </a:rPr>
              <a:t>An activation function in the context of neural networks is a mathematical function applied to the output of a neuron. The purpose of an activation function is to introduce non-linearity into the model, allowing the network to learn and represent complex patterns in the data.</a:t>
            </a:r>
          </a:p>
          <a:p>
            <a:pPr algn="just" rtl="0" fontAlgn="base"/>
            <a:endParaRPr lang="en-US" dirty="0">
              <a:latin typeface="Times New Roman" panose="02020603050405020304" pitchFamily="18" charset="0"/>
              <a:cs typeface="Times New Roman" panose="02020603050405020304" pitchFamily="18" charset="0"/>
            </a:endParaRPr>
          </a:p>
          <a:p>
            <a:pPr algn="just" rtl="0" fontAlgn="base"/>
            <a:r>
              <a:rPr lang="en-US" b="0" i="0" dirty="0">
                <a:effectLst/>
                <a:latin typeface="Times New Roman" panose="02020603050405020304" pitchFamily="18" charset="0"/>
                <a:cs typeface="Times New Roman" panose="02020603050405020304" pitchFamily="18" charset="0"/>
              </a:rPr>
              <a:t>The activation function decides whether a neuron should be activated or not by calculating the weighted sum and further adding bias to it.</a:t>
            </a:r>
          </a:p>
        </p:txBody>
      </p:sp>
      <p:pic>
        <p:nvPicPr>
          <p:cNvPr id="7" name="Picture 6">
            <a:extLst>
              <a:ext uri="{FF2B5EF4-FFF2-40B4-BE49-F238E27FC236}">
                <a16:creationId xmlns:a16="http://schemas.microsoft.com/office/drawing/2014/main" id="{3C81802E-3BE9-772C-B89E-A664CB9F25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48400" y="3540432"/>
            <a:ext cx="5814665" cy="2825135"/>
          </a:xfrm>
          <a:prstGeom prst="rect">
            <a:avLst/>
          </a:prstGeom>
        </p:spPr>
      </p:pic>
      <p:pic>
        <p:nvPicPr>
          <p:cNvPr id="9" name="Picture 8">
            <a:extLst>
              <a:ext uri="{FF2B5EF4-FFF2-40B4-BE49-F238E27FC236}">
                <a16:creationId xmlns:a16="http://schemas.microsoft.com/office/drawing/2014/main" id="{56F40AC5-1EC3-FE94-9A2D-B5BEF22D93D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8935" y="3583640"/>
            <a:ext cx="5179416" cy="2825136"/>
          </a:xfrm>
          <a:prstGeom prst="rect">
            <a:avLst/>
          </a:prstGeom>
        </p:spPr>
      </p:pic>
      <p:pic>
        <p:nvPicPr>
          <p:cNvPr id="11" name="Picture 10">
            <a:extLst>
              <a:ext uri="{FF2B5EF4-FFF2-40B4-BE49-F238E27FC236}">
                <a16:creationId xmlns:a16="http://schemas.microsoft.com/office/drawing/2014/main" id="{3A65499B-9C32-2ECF-4449-9538F5504D9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2712" y="2347934"/>
            <a:ext cx="3783123" cy="456584"/>
          </a:xfrm>
          <a:prstGeom prst="rect">
            <a:avLst/>
          </a:prstGeom>
        </p:spPr>
      </p:pic>
    </p:spTree>
    <p:extLst>
      <p:ext uri="{BB962C8B-B14F-4D97-AF65-F5344CB8AC3E}">
        <p14:creationId xmlns:p14="http://schemas.microsoft.com/office/powerpoint/2010/main" val="40554745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 name="Rectangle 46">
            <a:extLst>
              <a:ext uri="{FF2B5EF4-FFF2-40B4-BE49-F238E27FC236}">
                <a16:creationId xmlns:a16="http://schemas.microsoft.com/office/drawing/2014/main" id="{FBDCECDC-EEE3-4128-AA5E-82A8C08796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Franklin Gothic Book" panose="020F0502020204030204"/>
              <a:ea typeface="+mn-ea"/>
              <a:cs typeface="+mn-cs"/>
            </a:endParaRPr>
          </a:p>
        </p:txBody>
      </p:sp>
      <p:sp>
        <p:nvSpPr>
          <p:cNvPr id="49" name="Rectangle 48">
            <a:extLst>
              <a:ext uri="{FF2B5EF4-FFF2-40B4-BE49-F238E27FC236}">
                <a16:creationId xmlns:a16="http://schemas.microsoft.com/office/drawing/2014/main" id="{4260EDE0-989C-4E16-AF94-F652294D82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TextBox 2">
            <a:extLst>
              <a:ext uri="{FF2B5EF4-FFF2-40B4-BE49-F238E27FC236}">
                <a16:creationId xmlns:a16="http://schemas.microsoft.com/office/drawing/2014/main" id="{350CFB5D-4104-E6FB-4888-4DE045F0A207}"/>
              </a:ext>
            </a:extLst>
          </p:cNvPr>
          <p:cNvSpPr txBox="1"/>
          <p:nvPr/>
        </p:nvSpPr>
        <p:spPr>
          <a:xfrm>
            <a:off x="286871" y="155136"/>
            <a:ext cx="8023412" cy="2031325"/>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Types of Activation Functions:</a:t>
            </a:r>
          </a:p>
          <a:p>
            <a:pPr>
              <a:buFont typeface="+mj-lt"/>
              <a:buAutoNum type="arabicPeriod"/>
            </a:pPr>
            <a:r>
              <a:rPr lang="en-IN" b="1" u="sng" dirty="0">
                <a:latin typeface="Times New Roman" panose="02020603050405020304" pitchFamily="18" charset="0"/>
                <a:cs typeface="Times New Roman" panose="02020603050405020304" pitchFamily="18" charset="0"/>
              </a:rPr>
              <a:t>Sigmoid Function (Logistic)</a:t>
            </a:r>
          </a:p>
          <a:p>
            <a:pPr marL="285750" indent="-285750">
              <a:buFont typeface="Wingdings" panose="05000000000000000000" pitchFamily="2" charset="2"/>
              <a:buChar char="§"/>
            </a:pPr>
            <a:r>
              <a:rPr lang="en-IN" b="1" dirty="0">
                <a:latin typeface="Times New Roman" panose="02020603050405020304" pitchFamily="18" charset="0"/>
                <a:cs typeface="Times New Roman" panose="02020603050405020304" pitchFamily="18" charset="0"/>
              </a:rPr>
              <a:t>Formula:</a:t>
            </a:r>
            <a:r>
              <a:rPr lang="en-IN" dirty="0">
                <a:latin typeface="Times New Roman" panose="02020603050405020304" pitchFamily="18" charset="0"/>
                <a:cs typeface="Times New Roman" panose="02020603050405020304" pitchFamily="18" charset="0"/>
              </a:rPr>
              <a:t> </a:t>
            </a:r>
          </a:p>
          <a:p>
            <a:pPr marL="285750" indent="-285750">
              <a:buFont typeface="Wingdings" panose="05000000000000000000" pitchFamily="2" charset="2"/>
              <a:buChar char="§"/>
            </a:pPr>
            <a:endParaRPr lang="en-IN"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endParaRPr lang="en-IN"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en-IN" b="1" dirty="0">
                <a:latin typeface="Times New Roman" panose="02020603050405020304" pitchFamily="18" charset="0"/>
                <a:cs typeface="Times New Roman" panose="02020603050405020304" pitchFamily="18" charset="0"/>
              </a:rPr>
              <a:t>Range:</a:t>
            </a:r>
            <a:r>
              <a:rPr lang="en-IN" dirty="0">
                <a:latin typeface="Times New Roman" panose="02020603050405020304" pitchFamily="18" charset="0"/>
                <a:cs typeface="Times New Roman" panose="02020603050405020304" pitchFamily="18" charset="0"/>
              </a:rPr>
              <a:t> (0,1)</a:t>
            </a:r>
          </a:p>
          <a:p>
            <a:pPr marL="285750" indent="-285750">
              <a:buFont typeface="Wingdings" panose="05000000000000000000" pitchFamily="2" charset="2"/>
              <a:buChar char="§"/>
            </a:pPr>
            <a:r>
              <a:rPr lang="en-IN" b="1" dirty="0">
                <a:latin typeface="Times New Roman" panose="02020603050405020304" pitchFamily="18" charset="0"/>
                <a:cs typeface="Times New Roman" panose="02020603050405020304" pitchFamily="18" charset="0"/>
              </a:rPr>
              <a:t>Properties:</a:t>
            </a:r>
            <a:r>
              <a:rPr lang="en-IN" dirty="0">
                <a:latin typeface="Times New Roman" panose="02020603050405020304" pitchFamily="18" charset="0"/>
                <a:cs typeface="Times New Roman" panose="02020603050405020304" pitchFamily="18" charset="0"/>
              </a:rPr>
              <a:t> Smooth &amp; continuous, output is squashed to a range between 0 and 1.</a:t>
            </a:r>
          </a:p>
        </p:txBody>
      </p:sp>
      <p:sp>
        <p:nvSpPr>
          <p:cNvPr id="5" name="Rectangle 2">
            <a:extLst>
              <a:ext uri="{FF2B5EF4-FFF2-40B4-BE49-F238E27FC236}">
                <a16:creationId xmlns:a16="http://schemas.microsoft.com/office/drawing/2014/main" id="{09EA9212-580C-715B-3540-B429DF7E3020}"/>
              </a:ext>
            </a:extLst>
          </p:cNvPr>
          <p:cNvSpPr>
            <a:spLocks noChangeArrowheads="1"/>
          </p:cNvSpPr>
          <p:nvPr/>
        </p:nvSpPr>
        <p:spPr bwMode="auto">
          <a:xfrm>
            <a:off x="286870" y="2918945"/>
            <a:ext cx="11421035"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a:t>
            </a:r>
            <a:r>
              <a:rPr kumimoji="0" lang="en-US" altLang="en-US" sz="1800" b="1" i="0" u="sng"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Rectified Linear Unit (</a:t>
            </a:r>
            <a:r>
              <a:rPr kumimoji="0" lang="en-US" altLang="en-US" sz="1800" b="1" i="0" u="sng"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ReLU</a:t>
            </a:r>
            <a:r>
              <a:rPr kumimoji="0" lang="en-US" altLang="en-US" sz="1800" b="1" i="0" u="sng"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endParaRPr kumimoji="0" lang="en-US" altLang="en-US" sz="1800" b="0" i="0" u="sng"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Formula:</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ReLU</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(x)=max(0,x)</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Range: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[0,∞)</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Properties: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Simple and computationally efficient.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CF9A9109-AEC7-BE4E-3DA9-75236DA9D6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27792" y="311160"/>
            <a:ext cx="3677337" cy="2449031"/>
          </a:xfrm>
          <a:prstGeom prst="rect">
            <a:avLst/>
          </a:prstGeom>
        </p:spPr>
      </p:pic>
      <p:pic>
        <p:nvPicPr>
          <p:cNvPr id="9" name="Picture 8">
            <a:extLst>
              <a:ext uri="{FF2B5EF4-FFF2-40B4-BE49-F238E27FC236}">
                <a16:creationId xmlns:a16="http://schemas.microsoft.com/office/drawing/2014/main" id="{DF5C0D76-72DB-E4CC-4F3D-F3DF9CE1AB2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91249" y="3135125"/>
            <a:ext cx="3580279" cy="3112705"/>
          </a:xfrm>
          <a:prstGeom prst="rect">
            <a:avLst/>
          </a:prstGeom>
        </p:spPr>
      </p:pic>
      <p:pic>
        <p:nvPicPr>
          <p:cNvPr id="4" name="Picture 3">
            <a:extLst>
              <a:ext uri="{FF2B5EF4-FFF2-40B4-BE49-F238E27FC236}">
                <a16:creationId xmlns:a16="http://schemas.microsoft.com/office/drawing/2014/main" id="{EB81E5CB-FE5A-F2B6-BCF7-09E576932B3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97829" y="915990"/>
            <a:ext cx="1521434" cy="619685"/>
          </a:xfrm>
          <a:prstGeom prst="rect">
            <a:avLst/>
          </a:prstGeom>
        </p:spPr>
      </p:pic>
      <p:pic>
        <p:nvPicPr>
          <p:cNvPr id="6" name="Picture 5">
            <a:extLst>
              <a:ext uri="{FF2B5EF4-FFF2-40B4-BE49-F238E27FC236}">
                <a16:creationId xmlns:a16="http://schemas.microsoft.com/office/drawing/2014/main" id="{F893284E-2634-5058-8699-AB42BB56C4B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755238" y="610170"/>
            <a:ext cx="997771" cy="406395"/>
          </a:xfrm>
          <a:prstGeom prst="rect">
            <a:avLst/>
          </a:prstGeom>
        </p:spPr>
      </p:pic>
    </p:spTree>
    <p:extLst>
      <p:ext uri="{BB962C8B-B14F-4D97-AF65-F5344CB8AC3E}">
        <p14:creationId xmlns:p14="http://schemas.microsoft.com/office/powerpoint/2010/main" val="37729094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 name="Rectangle 46">
            <a:extLst>
              <a:ext uri="{FF2B5EF4-FFF2-40B4-BE49-F238E27FC236}">
                <a16:creationId xmlns:a16="http://schemas.microsoft.com/office/drawing/2014/main" id="{FBDCECDC-EEE3-4128-AA5E-82A8C08796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Franklin Gothic Book" panose="020F0502020204030204"/>
              <a:ea typeface="+mn-ea"/>
              <a:cs typeface="+mn-cs"/>
            </a:endParaRPr>
          </a:p>
        </p:txBody>
      </p:sp>
      <p:sp>
        <p:nvSpPr>
          <p:cNvPr id="49" name="Rectangle 48">
            <a:extLst>
              <a:ext uri="{FF2B5EF4-FFF2-40B4-BE49-F238E27FC236}">
                <a16:creationId xmlns:a16="http://schemas.microsoft.com/office/drawing/2014/main" id="{4260EDE0-989C-4E16-AF94-F652294D82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graphicFrame>
        <p:nvGraphicFramePr>
          <p:cNvPr id="2" name="Table 1">
            <a:extLst>
              <a:ext uri="{FF2B5EF4-FFF2-40B4-BE49-F238E27FC236}">
                <a16:creationId xmlns:a16="http://schemas.microsoft.com/office/drawing/2014/main" id="{1876537B-CB05-52B4-59BC-069772AC8AAC}"/>
              </a:ext>
            </a:extLst>
          </p:cNvPr>
          <p:cNvGraphicFramePr>
            <a:graphicFrameLocks noGrp="1"/>
          </p:cNvGraphicFramePr>
          <p:nvPr>
            <p:extLst>
              <p:ext uri="{D42A27DB-BD31-4B8C-83A1-F6EECF244321}">
                <p14:modId xmlns:p14="http://schemas.microsoft.com/office/powerpoint/2010/main" val="2011207126"/>
              </p:ext>
            </p:extLst>
          </p:nvPr>
        </p:nvGraphicFramePr>
        <p:xfrm>
          <a:off x="1591640" y="2944527"/>
          <a:ext cx="9237725" cy="639642"/>
        </p:xfrm>
        <a:graphic>
          <a:graphicData uri="http://schemas.openxmlformats.org/drawingml/2006/table">
            <a:tbl>
              <a:tblPr firstRow="1" bandRow="1">
                <a:tableStyleId>{5C22544A-7EE6-4342-B048-85BDC9FD1C3A}</a:tableStyleId>
              </a:tblPr>
              <a:tblGrid>
                <a:gridCol w="2438042">
                  <a:extLst>
                    <a:ext uri="{9D8B030D-6E8A-4147-A177-3AD203B41FA5}">
                      <a16:colId xmlns:a16="http://schemas.microsoft.com/office/drawing/2014/main" val="1661127569"/>
                    </a:ext>
                  </a:extLst>
                </a:gridCol>
                <a:gridCol w="6799683">
                  <a:extLst>
                    <a:ext uri="{9D8B030D-6E8A-4147-A177-3AD203B41FA5}">
                      <a16:colId xmlns:a16="http://schemas.microsoft.com/office/drawing/2014/main" val="2569806256"/>
                    </a:ext>
                  </a:extLst>
                </a:gridCol>
              </a:tblGrid>
              <a:tr h="639642">
                <a:tc>
                  <a:txBody>
                    <a:bodyPr/>
                    <a:lstStyle/>
                    <a:p>
                      <a:r>
                        <a:rPr lang="en-IN" i="1" dirty="0">
                          <a:latin typeface="Times New Roman" panose="02020603050405020304" pitchFamily="18" charset="0"/>
                          <a:cs typeface="Times New Roman" panose="02020603050405020304" pitchFamily="18" charset="0"/>
                        </a:rPr>
                        <a:t>Preprocess Data Phase</a:t>
                      </a:r>
                    </a:p>
                  </a:txBody>
                  <a:tcPr>
                    <a:solidFill>
                      <a:schemeClr val="accent1"/>
                    </a:solidFill>
                  </a:tcPr>
                </a:tc>
                <a:tc>
                  <a:txBody>
                    <a:bodyPr/>
                    <a:lstStyle/>
                    <a:p>
                      <a:pPr algn="ctr"/>
                      <a:r>
                        <a:rPr lang="en-IN" i="1" dirty="0">
                          <a:latin typeface="Times New Roman" panose="02020603050405020304" pitchFamily="18" charset="0"/>
                          <a:cs typeface="Times New Roman" panose="02020603050405020304" pitchFamily="18" charset="0"/>
                        </a:rPr>
                        <a:t>CNN Phase</a:t>
                      </a:r>
                    </a:p>
                  </a:txBody>
                  <a:tcPr>
                    <a:solidFill>
                      <a:schemeClr val="accent3">
                        <a:lumMod val="50000"/>
                      </a:schemeClr>
                    </a:solidFill>
                  </a:tcPr>
                </a:tc>
                <a:extLst>
                  <a:ext uri="{0D108BD9-81ED-4DB2-BD59-A6C34878D82A}">
                    <a16:rowId xmlns:a16="http://schemas.microsoft.com/office/drawing/2014/main" val="3447967814"/>
                  </a:ext>
                </a:extLst>
              </a:tr>
            </a:tbl>
          </a:graphicData>
        </a:graphic>
      </p:graphicFrame>
      <p:cxnSp>
        <p:nvCxnSpPr>
          <p:cNvPr id="4" name="Straight Arrow Connector 3">
            <a:extLst>
              <a:ext uri="{FF2B5EF4-FFF2-40B4-BE49-F238E27FC236}">
                <a16:creationId xmlns:a16="http://schemas.microsoft.com/office/drawing/2014/main" id="{DE2239F8-878C-471F-37F8-FED6632D8B8C}"/>
              </a:ext>
            </a:extLst>
          </p:cNvPr>
          <p:cNvCxnSpPr>
            <a:cxnSpLocks/>
          </p:cNvCxnSpPr>
          <p:nvPr/>
        </p:nvCxnSpPr>
        <p:spPr>
          <a:xfrm flipV="1">
            <a:off x="2185430" y="1562038"/>
            <a:ext cx="0" cy="133436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5" name="Straight Arrow Connector 4">
            <a:extLst>
              <a:ext uri="{FF2B5EF4-FFF2-40B4-BE49-F238E27FC236}">
                <a16:creationId xmlns:a16="http://schemas.microsoft.com/office/drawing/2014/main" id="{C7893F45-2970-5820-9177-6C7AF89CF38C}"/>
              </a:ext>
            </a:extLst>
          </p:cNvPr>
          <p:cNvCxnSpPr>
            <a:cxnSpLocks/>
          </p:cNvCxnSpPr>
          <p:nvPr/>
        </p:nvCxnSpPr>
        <p:spPr>
          <a:xfrm flipV="1">
            <a:off x="5199459" y="1578080"/>
            <a:ext cx="0" cy="133436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6" name="Straight Arrow Connector 5">
            <a:extLst>
              <a:ext uri="{FF2B5EF4-FFF2-40B4-BE49-F238E27FC236}">
                <a16:creationId xmlns:a16="http://schemas.microsoft.com/office/drawing/2014/main" id="{143582A1-1021-87EB-CB36-7B37976B4292}"/>
              </a:ext>
            </a:extLst>
          </p:cNvPr>
          <p:cNvCxnSpPr>
            <a:cxnSpLocks/>
          </p:cNvCxnSpPr>
          <p:nvPr/>
        </p:nvCxnSpPr>
        <p:spPr>
          <a:xfrm flipV="1">
            <a:off x="9285004" y="1578080"/>
            <a:ext cx="0" cy="133436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7" name="Straight Arrow Connector 6">
            <a:extLst>
              <a:ext uri="{FF2B5EF4-FFF2-40B4-BE49-F238E27FC236}">
                <a16:creationId xmlns:a16="http://schemas.microsoft.com/office/drawing/2014/main" id="{14D660F7-811A-9EE6-7851-9E31B854F68D}"/>
              </a:ext>
            </a:extLst>
          </p:cNvPr>
          <p:cNvCxnSpPr>
            <a:cxnSpLocks/>
          </p:cNvCxnSpPr>
          <p:nvPr/>
        </p:nvCxnSpPr>
        <p:spPr>
          <a:xfrm>
            <a:off x="3633386" y="3584169"/>
            <a:ext cx="0" cy="1341749"/>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8" name="Straight Arrow Connector 7">
            <a:extLst>
              <a:ext uri="{FF2B5EF4-FFF2-40B4-BE49-F238E27FC236}">
                <a16:creationId xmlns:a16="http://schemas.microsoft.com/office/drawing/2014/main" id="{4304721F-8DB1-DDE0-A138-D7179CBF8202}"/>
              </a:ext>
            </a:extLst>
          </p:cNvPr>
          <p:cNvCxnSpPr>
            <a:cxnSpLocks/>
          </p:cNvCxnSpPr>
          <p:nvPr/>
        </p:nvCxnSpPr>
        <p:spPr>
          <a:xfrm>
            <a:off x="7601920" y="3552085"/>
            <a:ext cx="0" cy="1341749"/>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9" name="TextBox 8">
            <a:extLst>
              <a:ext uri="{FF2B5EF4-FFF2-40B4-BE49-F238E27FC236}">
                <a16:creationId xmlns:a16="http://schemas.microsoft.com/office/drawing/2014/main" id="{82AC54D0-92AF-A99B-C124-B7A5E1DA3D33}"/>
              </a:ext>
            </a:extLst>
          </p:cNvPr>
          <p:cNvSpPr txBox="1"/>
          <p:nvPr/>
        </p:nvSpPr>
        <p:spPr>
          <a:xfrm>
            <a:off x="2286037" y="1366959"/>
            <a:ext cx="1762810" cy="338554"/>
          </a:xfrm>
          <a:prstGeom prst="rect">
            <a:avLst/>
          </a:prstGeom>
          <a:noFill/>
        </p:spPr>
        <p:txBody>
          <a:bodyPr wrap="square" rtlCol="0">
            <a:spAutoFit/>
          </a:bodyPr>
          <a:lstStyle/>
          <a:p>
            <a:r>
              <a:rPr lang="en-IN" sz="1600" b="1" dirty="0">
                <a:latin typeface="Times New Roman" panose="02020603050405020304" pitchFamily="18" charset="0"/>
                <a:cs typeface="Times New Roman" panose="02020603050405020304" pitchFamily="18" charset="0"/>
              </a:rPr>
              <a:t>Getting the data</a:t>
            </a:r>
          </a:p>
        </p:txBody>
      </p:sp>
      <p:sp>
        <p:nvSpPr>
          <p:cNvPr id="10" name="TextBox 9">
            <a:extLst>
              <a:ext uri="{FF2B5EF4-FFF2-40B4-BE49-F238E27FC236}">
                <a16:creationId xmlns:a16="http://schemas.microsoft.com/office/drawing/2014/main" id="{B3EE1607-DD38-7321-372A-1907DB28A4BD}"/>
              </a:ext>
            </a:extLst>
          </p:cNvPr>
          <p:cNvSpPr txBox="1"/>
          <p:nvPr/>
        </p:nvSpPr>
        <p:spPr>
          <a:xfrm>
            <a:off x="5372339" y="1366959"/>
            <a:ext cx="1762810" cy="584775"/>
          </a:xfrm>
          <a:prstGeom prst="rect">
            <a:avLst/>
          </a:prstGeom>
          <a:noFill/>
        </p:spPr>
        <p:txBody>
          <a:bodyPr wrap="square" rtlCol="0">
            <a:spAutoFit/>
          </a:bodyPr>
          <a:lstStyle/>
          <a:p>
            <a:r>
              <a:rPr lang="en-IN" sz="1600" b="1" dirty="0">
                <a:latin typeface="Times New Roman" panose="02020603050405020304" pitchFamily="18" charset="0"/>
                <a:cs typeface="Times New Roman" panose="02020603050405020304" pitchFamily="18" charset="0"/>
              </a:rPr>
              <a:t>Building the network</a:t>
            </a:r>
          </a:p>
        </p:txBody>
      </p:sp>
      <p:sp>
        <p:nvSpPr>
          <p:cNvPr id="11" name="TextBox 10">
            <a:extLst>
              <a:ext uri="{FF2B5EF4-FFF2-40B4-BE49-F238E27FC236}">
                <a16:creationId xmlns:a16="http://schemas.microsoft.com/office/drawing/2014/main" id="{60720FBB-5DBC-3E1C-1C1E-C276B7AC95CE}"/>
              </a:ext>
            </a:extLst>
          </p:cNvPr>
          <p:cNvSpPr txBox="1"/>
          <p:nvPr/>
        </p:nvSpPr>
        <p:spPr>
          <a:xfrm>
            <a:off x="9340128" y="1366959"/>
            <a:ext cx="1645925" cy="338554"/>
          </a:xfrm>
          <a:prstGeom prst="rect">
            <a:avLst/>
          </a:prstGeom>
          <a:noFill/>
        </p:spPr>
        <p:txBody>
          <a:bodyPr wrap="square" rtlCol="0">
            <a:spAutoFit/>
          </a:bodyPr>
          <a:lstStyle/>
          <a:p>
            <a:r>
              <a:rPr lang="en-IN" sz="1600" b="1" dirty="0">
                <a:latin typeface="Times New Roman" panose="02020603050405020304" pitchFamily="18" charset="0"/>
                <a:cs typeface="Times New Roman" panose="02020603050405020304" pitchFamily="18" charset="0"/>
              </a:rPr>
              <a:t>Model Testing</a:t>
            </a:r>
          </a:p>
        </p:txBody>
      </p:sp>
      <p:sp>
        <p:nvSpPr>
          <p:cNvPr id="12" name="TextBox 11">
            <a:extLst>
              <a:ext uri="{FF2B5EF4-FFF2-40B4-BE49-F238E27FC236}">
                <a16:creationId xmlns:a16="http://schemas.microsoft.com/office/drawing/2014/main" id="{F5778133-E957-BA5E-5679-FBE21E57F844}"/>
              </a:ext>
            </a:extLst>
          </p:cNvPr>
          <p:cNvSpPr txBox="1"/>
          <p:nvPr/>
        </p:nvSpPr>
        <p:spPr>
          <a:xfrm>
            <a:off x="3842824" y="4306446"/>
            <a:ext cx="1762810" cy="584775"/>
          </a:xfrm>
          <a:prstGeom prst="rect">
            <a:avLst/>
          </a:prstGeom>
          <a:noFill/>
        </p:spPr>
        <p:txBody>
          <a:bodyPr wrap="square" rtlCol="0">
            <a:spAutoFit/>
          </a:bodyPr>
          <a:lstStyle/>
          <a:p>
            <a:r>
              <a:rPr lang="en-IN" sz="1600" b="1" dirty="0">
                <a:latin typeface="Times New Roman" panose="02020603050405020304" pitchFamily="18" charset="0"/>
                <a:cs typeface="Times New Roman" panose="02020603050405020304" pitchFamily="18" charset="0"/>
              </a:rPr>
              <a:t>Preprocessing functions</a:t>
            </a:r>
          </a:p>
        </p:txBody>
      </p:sp>
      <p:sp>
        <p:nvSpPr>
          <p:cNvPr id="13" name="TextBox 12">
            <a:extLst>
              <a:ext uri="{FF2B5EF4-FFF2-40B4-BE49-F238E27FC236}">
                <a16:creationId xmlns:a16="http://schemas.microsoft.com/office/drawing/2014/main" id="{7C97462E-0BD6-7939-ED7B-18AD6877AEF5}"/>
              </a:ext>
            </a:extLst>
          </p:cNvPr>
          <p:cNvSpPr txBox="1"/>
          <p:nvPr/>
        </p:nvSpPr>
        <p:spPr>
          <a:xfrm>
            <a:off x="7687093" y="4314406"/>
            <a:ext cx="1762810" cy="584775"/>
          </a:xfrm>
          <a:prstGeom prst="rect">
            <a:avLst/>
          </a:prstGeom>
          <a:noFill/>
        </p:spPr>
        <p:txBody>
          <a:bodyPr wrap="square" rtlCol="0">
            <a:spAutoFit/>
          </a:bodyPr>
          <a:lstStyle/>
          <a:p>
            <a:r>
              <a:rPr lang="en-IN" sz="1600" b="1" dirty="0">
                <a:latin typeface="Times New Roman" panose="02020603050405020304" pitchFamily="18" charset="0"/>
                <a:cs typeface="Times New Roman" panose="02020603050405020304" pitchFamily="18" charset="0"/>
              </a:rPr>
              <a:t>Training the network</a:t>
            </a:r>
          </a:p>
        </p:txBody>
      </p:sp>
      <p:sp>
        <p:nvSpPr>
          <p:cNvPr id="3" name="Title 1">
            <a:extLst>
              <a:ext uri="{FF2B5EF4-FFF2-40B4-BE49-F238E27FC236}">
                <a16:creationId xmlns:a16="http://schemas.microsoft.com/office/drawing/2014/main" id="{D4150E17-C625-2D8F-CF9E-83DFFDDE782B}"/>
              </a:ext>
            </a:extLst>
          </p:cNvPr>
          <p:cNvSpPr txBox="1">
            <a:spLocks/>
          </p:cNvSpPr>
          <p:nvPr/>
        </p:nvSpPr>
        <p:spPr>
          <a:xfrm>
            <a:off x="360000" y="360000"/>
            <a:ext cx="6993300" cy="54000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8000" i="0" kern="1200" spc="-50" baseline="0">
                <a:solidFill>
                  <a:schemeClr val="tx1">
                    <a:lumMod val="85000"/>
                    <a:lumOff val="15000"/>
                  </a:schemeClr>
                </a:solidFill>
                <a:latin typeface="+mj-lt"/>
                <a:ea typeface="+mj-ea"/>
                <a:cs typeface="+mj-cs"/>
              </a:defRPr>
            </a:lvl1pPr>
          </a:lstStyle>
          <a:p>
            <a:r>
              <a:rPr lang="en-US" sz="3200" b="1" u="sng">
                <a:solidFill>
                  <a:schemeClr val="tx1"/>
                </a:solidFill>
                <a:latin typeface="Times New Roman" panose="02020603050405020304" pitchFamily="18" charset="0"/>
                <a:cs typeface="Times New Roman" panose="02020603050405020304" pitchFamily="18" charset="0"/>
              </a:rPr>
              <a:t>Phases:</a:t>
            </a:r>
            <a:endParaRPr lang="en-US" sz="3200" b="1" u="sng"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670441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 name="Rectangle 46">
            <a:extLst>
              <a:ext uri="{FF2B5EF4-FFF2-40B4-BE49-F238E27FC236}">
                <a16:creationId xmlns:a16="http://schemas.microsoft.com/office/drawing/2014/main" id="{FBDCECDC-EEE3-4128-AA5E-82A8C08796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Franklin Gothic Book" panose="020F0502020204030204"/>
              <a:ea typeface="+mn-ea"/>
              <a:cs typeface="+mn-cs"/>
            </a:endParaRPr>
          </a:p>
        </p:txBody>
      </p:sp>
      <p:sp>
        <p:nvSpPr>
          <p:cNvPr id="49" name="Rectangle 48">
            <a:extLst>
              <a:ext uri="{FF2B5EF4-FFF2-40B4-BE49-F238E27FC236}">
                <a16:creationId xmlns:a16="http://schemas.microsoft.com/office/drawing/2014/main" id="{4260EDE0-989C-4E16-AF94-F652294D82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extBox 1">
            <a:extLst>
              <a:ext uri="{FF2B5EF4-FFF2-40B4-BE49-F238E27FC236}">
                <a16:creationId xmlns:a16="http://schemas.microsoft.com/office/drawing/2014/main" id="{C3B1E453-3F49-5268-CA9D-B674415E52C0}"/>
              </a:ext>
            </a:extLst>
          </p:cNvPr>
          <p:cNvSpPr txBox="1"/>
          <p:nvPr/>
        </p:nvSpPr>
        <p:spPr>
          <a:xfrm>
            <a:off x="215153" y="1131216"/>
            <a:ext cx="11707906" cy="2123658"/>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Objective:</a:t>
            </a:r>
            <a:r>
              <a:rPr lang="en-IN" sz="2400" dirty="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Classify the images into “Happy” and “Sad” Categories using a Convolutional Neural Network(CNN).</a:t>
            </a:r>
          </a:p>
          <a:p>
            <a:endParaRPr lang="en-IN" sz="2000"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Data Source: </a:t>
            </a:r>
            <a:r>
              <a:rPr lang="en-IN" sz="2000" dirty="0">
                <a:latin typeface="Times New Roman" panose="02020603050405020304" pitchFamily="18" charset="0"/>
                <a:cs typeface="Times New Roman" panose="02020603050405020304" pitchFamily="18" charset="0"/>
              </a:rPr>
              <a:t>Images are stored in a directory, stored into subdirectories based on labels.</a:t>
            </a:r>
          </a:p>
          <a:p>
            <a:endParaRPr lang="en-IN" sz="2000"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Tools Used: </a:t>
            </a:r>
            <a:r>
              <a:rPr lang="en-IN" sz="2000" dirty="0">
                <a:latin typeface="Times New Roman" panose="02020603050405020304" pitchFamily="18" charset="0"/>
                <a:cs typeface="Times New Roman" panose="02020603050405020304" pitchFamily="18" charset="0"/>
              </a:rPr>
              <a:t>TensorFlow, OpenCV, Matplotlib, NumPy</a:t>
            </a:r>
          </a:p>
        </p:txBody>
      </p:sp>
      <p:sp>
        <p:nvSpPr>
          <p:cNvPr id="3" name="Title 3">
            <a:extLst>
              <a:ext uri="{FF2B5EF4-FFF2-40B4-BE49-F238E27FC236}">
                <a16:creationId xmlns:a16="http://schemas.microsoft.com/office/drawing/2014/main" id="{68F550BE-03D8-BE99-CBB3-4B99181EE959}"/>
              </a:ext>
            </a:extLst>
          </p:cNvPr>
          <p:cNvSpPr>
            <a:spLocks noGrp="1"/>
          </p:cNvSpPr>
          <p:nvPr>
            <p:ph type="ctrTitle"/>
          </p:nvPr>
        </p:nvSpPr>
        <p:spPr>
          <a:xfrm>
            <a:off x="189752" y="386499"/>
            <a:ext cx="5192953" cy="529418"/>
          </a:xfrm>
        </p:spPr>
        <p:txBody>
          <a:bodyPr/>
          <a:lstStyle/>
          <a:p>
            <a:r>
              <a:rPr lang="en-US" sz="3000" b="1" dirty="0">
                <a:solidFill>
                  <a:srgbClr val="C00000"/>
                </a:solidFill>
                <a:latin typeface="Times New Roman" panose="02020603050405020304" pitchFamily="18" charset="0"/>
                <a:cs typeface="Times New Roman" panose="02020603050405020304" pitchFamily="18" charset="0"/>
              </a:rPr>
              <a:t>Project Overview:</a:t>
            </a:r>
          </a:p>
        </p:txBody>
      </p:sp>
    </p:spTree>
    <p:extLst>
      <p:ext uri="{BB962C8B-B14F-4D97-AF65-F5344CB8AC3E}">
        <p14:creationId xmlns:p14="http://schemas.microsoft.com/office/powerpoint/2010/main" val="30213801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 name="Rectangle 46">
            <a:extLst>
              <a:ext uri="{FF2B5EF4-FFF2-40B4-BE49-F238E27FC236}">
                <a16:creationId xmlns:a16="http://schemas.microsoft.com/office/drawing/2014/main" id="{FBDCECDC-EEE3-4128-AA5E-82A8C08796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Franklin Gothic Book" panose="020F0502020204030204"/>
              <a:ea typeface="+mn-ea"/>
              <a:cs typeface="+mn-cs"/>
            </a:endParaRPr>
          </a:p>
        </p:txBody>
      </p:sp>
      <p:sp>
        <p:nvSpPr>
          <p:cNvPr id="49" name="Rectangle 48">
            <a:extLst>
              <a:ext uri="{FF2B5EF4-FFF2-40B4-BE49-F238E27FC236}">
                <a16:creationId xmlns:a16="http://schemas.microsoft.com/office/drawing/2014/main" id="{4260EDE0-989C-4E16-AF94-F652294D82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extBox 1">
            <a:extLst>
              <a:ext uri="{FF2B5EF4-FFF2-40B4-BE49-F238E27FC236}">
                <a16:creationId xmlns:a16="http://schemas.microsoft.com/office/drawing/2014/main" id="{04BC398B-4677-19F5-66D7-1A4CC24D248D}"/>
              </a:ext>
            </a:extLst>
          </p:cNvPr>
          <p:cNvSpPr txBox="1"/>
          <p:nvPr/>
        </p:nvSpPr>
        <p:spPr>
          <a:xfrm>
            <a:off x="190891" y="85840"/>
            <a:ext cx="11660450" cy="4590359"/>
          </a:xfrm>
          <a:prstGeom prst="rect">
            <a:avLst/>
          </a:prstGeom>
          <a:noFill/>
        </p:spPr>
        <p:txBody>
          <a:bodyPr wrap="square">
            <a:spAutoFit/>
          </a:bodyPr>
          <a:lstStyle/>
          <a:p>
            <a:pPr algn="just">
              <a:lnSpc>
                <a:spcPct val="107000"/>
              </a:lnSpc>
              <a:spcAft>
                <a:spcPts val="800"/>
              </a:spcAft>
            </a:pPr>
            <a:r>
              <a:rPr lang="en-IN" sz="2000" b="1" u="sng" kern="100" dirty="0">
                <a:effectLst/>
                <a:latin typeface="Times New Roman" panose="02020603050405020304" pitchFamily="18" charset="0"/>
                <a:ea typeface="Calibri" panose="020F0502020204030204" pitchFamily="34" charset="0"/>
                <a:cs typeface="Times New Roman" panose="02020603050405020304" pitchFamily="18" charset="0"/>
              </a:rPr>
              <a:t>About The Dataset:</a:t>
            </a:r>
          </a:p>
          <a:p>
            <a:pPr algn="just">
              <a:lnSpc>
                <a:spcPct val="107000"/>
              </a:lnSpc>
              <a:spcAft>
                <a:spcPts val="800"/>
              </a:spcAft>
            </a:pPr>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The dataset used in this project consists of images categorized into two classes: 'Happy' and 'Sad'. These images are organized in a directory structure that is suitable for loading and processing using TensorFlow's image dataset utilities. Below is a detailed description of the dataset:</a:t>
            </a:r>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IN" b="1" kern="100" dirty="0">
                <a:effectLst/>
                <a:latin typeface="Times New Roman" panose="02020603050405020304" pitchFamily="18" charset="0"/>
                <a:ea typeface="Calibri" panose="020F0502020204030204" pitchFamily="34" charset="0"/>
                <a:cs typeface="Times New Roman" panose="02020603050405020304" pitchFamily="18" charset="0"/>
              </a:rPr>
              <a:t>1. Directory Structure</a:t>
            </a:r>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SzPts val="1000"/>
              <a:buFont typeface="Symbol" panose="05050102010706020507" pitchFamily="18" charset="2"/>
              <a:buChar char=""/>
              <a:tabLst>
                <a:tab pos="457200" algn="l"/>
              </a:tabLst>
            </a:pPr>
            <a:r>
              <a:rPr lang="en-IN" b="1" kern="100" dirty="0">
                <a:effectLst/>
                <a:latin typeface="Times New Roman" panose="02020603050405020304" pitchFamily="18" charset="0"/>
                <a:ea typeface="Calibri" panose="020F0502020204030204" pitchFamily="34" charset="0"/>
                <a:cs typeface="Times New Roman" panose="02020603050405020304" pitchFamily="18" charset="0"/>
              </a:rPr>
              <a:t>Root Directory</a:t>
            </a:r>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 Contains two subdirectories, one for each class ('Happy' and 'Sad').</a:t>
            </a:r>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IN" b="1" kern="100" dirty="0">
                <a:effectLst/>
                <a:latin typeface="Times New Roman" panose="02020603050405020304" pitchFamily="18" charset="0"/>
                <a:ea typeface="Calibri" panose="020F0502020204030204" pitchFamily="34" charset="0"/>
                <a:cs typeface="Times New Roman" panose="02020603050405020304" pitchFamily="18" charset="0"/>
              </a:rPr>
              <a:t>2. Image Characteristics</a:t>
            </a:r>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SzPts val="1000"/>
              <a:buFont typeface="Symbol" panose="05050102010706020507" pitchFamily="18" charset="2"/>
              <a:buChar char=""/>
              <a:tabLst>
                <a:tab pos="457200" algn="l"/>
              </a:tabLst>
            </a:pPr>
            <a:r>
              <a:rPr lang="en-IN" b="1" kern="100" dirty="0">
                <a:effectLst/>
                <a:latin typeface="Times New Roman" panose="02020603050405020304" pitchFamily="18" charset="0"/>
                <a:ea typeface="Calibri" panose="020F0502020204030204" pitchFamily="34" charset="0"/>
                <a:cs typeface="Times New Roman" panose="02020603050405020304" pitchFamily="18" charset="0"/>
              </a:rPr>
              <a:t>Classes</a:t>
            </a:r>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gn="just">
              <a:lnSpc>
                <a:spcPct val="107000"/>
              </a:lnSpc>
              <a:spcAft>
                <a:spcPts val="800"/>
              </a:spcAft>
              <a:buSzPts val="1000"/>
              <a:buFont typeface="Courier New" panose="02070309020205020404" pitchFamily="49" charset="0"/>
              <a:buChar char="o"/>
              <a:tabLst>
                <a:tab pos="914400" algn="l"/>
              </a:tabLst>
            </a:pPr>
            <a:r>
              <a:rPr lang="en-IN" b="1" kern="100" dirty="0">
                <a:effectLst/>
                <a:latin typeface="Times New Roman" panose="02020603050405020304" pitchFamily="18" charset="0"/>
                <a:ea typeface="Calibri" panose="020F0502020204030204" pitchFamily="34" charset="0"/>
                <a:cs typeface="Times New Roman" panose="02020603050405020304" pitchFamily="18" charset="0"/>
              </a:rPr>
              <a:t>Happy</a:t>
            </a:r>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 Images of individuals with happy facial expressions.</a:t>
            </a:r>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gn="just">
              <a:lnSpc>
                <a:spcPct val="107000"/>
              </a:lnSpc>
              <a:spcAft>
                <a:spcPts val="800"/>
              </a:spcAft>
              <a:buSzPts val="1000"/>
              <a:buFont typeface="Courier New" panose="02070309020205020404" pitchFamily="49" charset="0"/>
              <a:buChar char="o"/>
              <a:tabLst>
                <a:tab pos="914400" algn="l"/>
              </a:tabLst>
            </a:pPr>
            <a:r>
              <a:rPr lang="en-IN" b="1" kern="100" dirty="0">
                <a:effectLst/>
                <a:latin typeface="Times New Roman" panose="02020603050405020304" pitchFamily="18" charset="0"/>
                <a:ea typeface="Calibri" panose="020F0502020204030204" pitchFamily="34" charset="0"/>
                <a:cs typeface="Times New Roman" panose="02020603050405020304" pitchFamily="18" charset="0"/>
              </a:rPr>
              <a:t>Sad</a:t>
            </a:r>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 Images of individuals with sad facial expressions.</a:t>
            </a:r>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SzPts val="1000"/>
              <a:buFont typeface="Symbol" panose="05050102010706020507" pitchFamily="18" charset="2"/>
              <a:buChar char=""/>
              <a:tabLst>
                <a:tab pos="457200" algn="l"/>
              </a:tabLst>
            </a:pPr>
            <a:r>
              <a:rPr lang="en-IN" b="1" kern="100" dirty="0">
                <a:effectLst/>
                <a:latin typeface="Times New Roman" panose="02020603050405020304" pitchFamily="18" charset="0"/>
                <a:ea typeface="Calibri" panose="020F0502020204030204" pitchFamily="34" charset="0"/>
                <a:cs typeface="Times New Roman" panose="02020603050405020304" pitchFamily="18" charset="0"/>
              </a:rPr>
              <a:t>File Format</a:t>
            </a:r>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 Images are typically in JPEG format (.jpg).</a:t>
            </a:r>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SzPts val="1000"/>
              <a:buFont typeface="Symbol" panose="05050102010706020507" pitchFamily="18" charset="2"/>
              <a:buChar char=""/>
              <a:tabLst>
                <a:tab pos="457200" algn="l"/>
              </a:tabLst>
            </a:pPr>
            <a:r>
              <a:rPr lang="en-IN" b="1" kern="100" dirty="0">
                <a:effectLst/>
                <a:latin typeface="Times New Roman" panose="02020603050405020304" pitchFamily="18" charset="0"/>
                <a:ea typeface="Calibri" panose="020F0502020204030204" pitchFamily="34" charset="0"/>
                <a:cs typeface="Times New Roman" panose="02020603050405020304" pitchFamily="18" charset="0"/>
              </a:rPr>
              <a:t>Dimensions</a:t>
            </a:r>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 Images vary in size and resolution but are standardized to 256x256 pixels during preprocessing.</a:t>
            </a:r>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3" name="Picture 2">
            <a:extLst>
              <a:ext uri="{FF2B5EF4-FFF2-40B4-BE49-F238E27FC236}">
                <a16:creationId xmlns:a16="http://schemas.microsoft.com/office/drawing/2014/main" id="{25F18CA1-0DC2-1BD7-589D-E1B7F48E289B}"/>
              </a:ext>
            </a:extLst>
          </p:cNvPr>
          <p:cNvPicPr>
            <a:picLocks noChangeAspect="1"/>
          </p:cNvPicPr>
          <p:nvPr/>
        </p:nvPicPr>
        <p:blipFill>
          <a:blip r:embed="rId2"/>
          <a:stretch>
            <a:fillRect/>
          </a:stretch>
        </p:blipFill>
        <p:spPr>
          <a:xfrm>
            <a:off x="8756115" y="1397477"/>
            <a:ext cx="2931736" cy="2809189"/>
          </a:xfrm>
          <a:prstGeom prst="rect">
            <a:avLst/>
          </a:prstGeom>
        </p:spPr>
      </p:pic>
    </p:spTree>
    <p:extLst>
      <p:ext uri="{BB962C8B-B14F-4D97-AF65-F5344CB8AC3E}">
        <p14:creationId xmlns:p14="http://schemas.microsoft.com/office/powerpoint/2010/main" val="42315045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 name="Rectangle 46">
            <a:extLst>
              <a:ext uri="{FF2B5EF4-FFF2-40B4-BE49-F238E27FC236}">
                <a16:creationId xmlns:a16="http://schemas.microsoft.com/office/drawing/2014/main" id="{FBDCECDC-EEE3-4128-AA5E-82A8C08796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Franklin Gothic Book" panose="020F0502020204030204"/>
              <a:ea typeface="+mn-ea"/>
              <a:cs typeface="+mn-cs"/>
            </a:endParaRPr>
          </a:p>
        </p:txBody>
      </p:sp>
      <p:sp>
        <p:nvSpPr>
          <p:cNvPr id="49" name="Rectangle 48">
            <a:extLst>
              <a:ext uri="{FF2B5EF4-FFF2-40B4-BE49-F238E27FC236}">
                <a16:creationId xmlns:a16="http://schemas.microsoft.com/office/drawing/2014/main" id="{4260EDE0-989C-4E16-AF94-F652294D82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extBox 1">
            <a:extLst>
              <a:ext uri="{FF2B5EF4-FFF2-40B4-BE49-F238E27FC236}">
                <a16:creationId xmlns:a16="http://schemas.microsoft.com/office/drawing/2014/main" id="{7BCC3E1E-94D8-A2A7-E7CB-7E1695127AFF}"/>
              </a:ext>
            </a:extLst>
          </p:cNvPr>
          <p:cNvSpPr txBox="1"/>
          <p:nvPr/>
        </p:nvSpPr>
        <p:spPr>
          <a:xfrm>
            <a:off x="412798" y="402238"/>
            <a:ext cx="11366370" cy="1704569"/>
          </a:xfrm>
          <a:prstGeom prst="rect">
            <a:avLst/>
          </a:prstGeom>
          <a:noFill/>
        </p:spPr>
        <p:txBody>
          <a:bodyPr wrap="square">
            <a:spAutoFit/>
          </a:bodyPr>
          <a:lstStyle/>
          <a:p>
            <a:pPr algn="just">
              <a:lnSpc>
                <a:spcPct val="150000"/>
              </a:lnSpc>
            </a:pPr>
            <a:r>
              <a:rPr lang="en-IN" sz="1800" b="1" dirty="0">
                <a:effectLst/>
                <a:latin typeface="Times New Roman" panose="02020603050405020304" pitchFamily="18" charset="0"/>
                <a:ea typeface="Times New Roman" panose="02020603050405020304" pitchFamily="18" charset="0"/>
              </a:rPr>
              <a:t>Build the Model:</a:t>
            </a:r>
            <a:endParaRPr lang="en-IN" sz="1800" dirty="0">
              <a:effectLst/>
              <a:latin typeface="Times New Roman" panose="02020603050405020304" pitchFamily="18" charset="0"/>
              <a:ea typeface="Times New Roman" panose="02020603050405020304" pitchFamily="18" charset="0"/>
            </a:endParaRPr>
          </a:p>
          <a:p>
            <a:pPr algn="just">
              <a:lnSpc>
                <a:spcPct val="150000"/>
              </a:lnSpc>
            </a:pPr>
            <a:r>
              <a:rPr lang="en-IN" sz="1800" dirty="0">
                <a:effectLst/>
                <a:latin typeface="Times New Roman" panose="02020603050405020304" pitchFamily="18" charset="0"/>
                <a:ea typeface="Times New Roman" panose="02020603050405020304" pitchFamily="18" charset="0"/>
              </a:rPr>
              <a:t>A Sequential model is built using TensorFlow's </a:t>
            </a:r>
            <a:r>
              <a:rPr lang="en-IN" sz="1800" dirty="0" err="1">
                <a:effectLst/>
                <a:latin typeface="Times New Roman" panose="02020603050405020304" pitchFamily="18" charset="0"/>
                <a:ea typeface="Times New Roman" panose="02020603050405020304" pitchFamily="18" charset="0"/>
              </a:rPr>
              <a:t>Keras</a:t>
            </a:r>
            <a:r>
              <a:rPr lang="en-IN" sz="1800" dirty="0">
                <a:effectLst/>
                <a:latin typeface="Times New Roman" panose="02020603050405020304" pitchFamily="18" charset="0"/>
                <a:ea typeface="Times New Roman" panose="02020603050405020304" pitchFamily="18" charset="0"/>
              </a:rPr>
              <a:t> API. The architecture includes three convolutional layers followed by max pooling layers, a flattening layer, and two dense layers. The output layer uses a sigmoid activation function to predict the binary class (Happy or Sad).</a:t>
            </a:r>
          </a:p>
        </p:txBody>
      </p:sp>
      <p:sp>
        <p:nvSpPr>
          <p:cNvPr id="4" name="TextBox 3">
            <a:extLst>
              <a:ext uri="{FF2B5EF4-FFF2-40B4-BE49-F238E27FC236}">
                <a16:creationId xmlns:a16="http://schemas.microsoft.com/office/drawing/2014/main" id="{371CCD72-07EC-659D-4BF0-BDF1711AD2D2}"/>
              </a:ext>
            </a:extLst>
          </p:cNvPr>
          <p:cNvSpPr txBox="1"/>
          <p:nvPr/>
        </p:nvSpPr>
        <p:spPr>
          <a:xfrm>
            <a:off x="412798" y="2550059"/>
            <a:ext cx="11366370" cy="2166234"/>
          </a:xfrm>
          <a:prstGeom prst="rect">
            <a:avLst/>
          </a:prstGeom>
          <a:noFill/>
        </p:spPr>
        <p:txBody>
          <a:bodyPr wrap="square">
            <a:spAutoFit/>
          </a:bodyPr>
          <a:lstStyle/>
          <a:p>
            <a:pPr algn="just">
              <a:lnSpc>
                <a:spcPct val="150000"/>
              </a:lnSpc>
            </a:pPr>
            <a:r>
              <a:rPr lang="en-IN" sz="2000" b="1" dirty="0">
                <a:effectLst/>
                <a:latin typeface="Times New Roman" panose="02020603050405020304" pitchFamily="18" charset="0"/>
                <a:ea typeface="Times New Roman" panose="02020603050405020304" pitchFamily="18" charset="0"/>
              </a:rPr>
              <a:t>Training the Model:</a:t>
            </a:r>
          </a:p>
          <a:p>
            <a:pPr marL="285750" indent="-285750" algn="just">
              <a:lnSpc>
                <a:spcPct val="150000"/>
              </a:lnSpc>
              <a:buFont typeface="Courier New" panose="02070309020205020404" pitchFamily="49" charset="0"/>
              <a:buChar char="o"/>
            </a:pPr>
            <a:r>
              <a:rPr lang="en-IN" sz="1800" dirty="0">
                <a:effectLst/>
                <a:latin typeface="Times New Roman" panose="02020603050405020304" pitchFamily="18" charset="0"/>
                <a:ea typeface="Times New Roman" panose="02020603050405020304" pitchFamily="18" charset="0"/>
              </a:rPr>
              <a:t>Data Splitting: The dataset is split into training, validation, and test sets in a 70-20-10 ratio. This ensures that the model can be trained and validated on separate data to evaluate its performance effectively.</a:t>
            </a:r>
            <a:endParaRPr lang="en-IN" dirty="0">
              <a:latin typeface="Times New Roman" panose="02020603050405020304" pitchFamily="18" charset="0"/>
              <a:ea typeface="Times New Roman" panose="02020603050405020304" pitchFamily="18" charset="0"/>
            </a:endParaRPr>
          </a:p>
          <a:p>
            <a:pPr marL="285750" indent="-285750" algn="just">
              <a:lnSpc>
                <a:spcPct val="150000"/>
              </a:lnSpc>
              <a:buFont typeface="Courier New" panose="02070309020205020404" pitchFamily="49" charset="0"/>
              <a:buChar char="o"/>
            </a:pPr>
            <a:r>
              <a:rPr lang="en-IN" sz="1800" dirty="0">
                <a:effectLst/>
                <a:latin typeface="Times New Roman" panose="02020603050405020304" pitchFamily="18" charset="0"/>
                <a:ea typeface="Times New Roman" panose="02020603050405020304" pitchFamily="18" charset="0"/>
              </a:rPr>
              <a:t>The model is trained for 20 epochs with the Adam optimizer and binary cross-entropy loss. A </a:t>
            </a:r>
            <a:r>
              <a:rPr lang="en-IN" sz="1800" dirty="0" err="1">
                <a:effectLst/>
                <a:latin typeface="Times New Roman" panose="02020603050405020304" pitchFamily="18" charset="0"/>
                <a:ea typeface="Times New Roman" panose="02020603050405020304" pitchFamily="18" charset="0"/>
              </a:rPr>
              <a:t>TensorBoard</a:t>
            </a:r>
            <a:r>
              <a:rPr lang="en-IN" sz="1800" dirty="0">
                <a:effectLst/>
                <a:latin typeface="Times New Roman" panose="02020603050405020304" pitchFamily="18" charset="0"/>
                <a:ea typeface="Times New Roman" panose="02020603050405020304" pitchFamily="18" charset="0"/>
              </a:rPr>
              <a:t> callback is used for monitoring the training process.</a:t>
            </a:r>
          </a:p>
        </p:txBody>
      </p:sp>
    </p:spTree>
    <p:extLst>
      <p:ext uri="{BB962C8B-B14F-4D97-AF65-F5344CB8AC3E}">
        <p14:creationId xmlns:p14="http://schemas.microsoft.com/office/powerpoint/2010/main" val="18103825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 name="Rectangle 46">
            <a:extLst>
              <a:ext uri="{FF2B5EF4-FFF2-40B4-BE49-F238E27FC236}">
                <a16:creationId xmlns:a16="http://schemas.microsoft.com/office/drawing/2014/main" id="{FBDCECDC-EEE3-4128-AA5E-82A8C08796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Franklin Gothic Book" panose="020F0502020204030204"/>
              <a:ea typeface="+mn-ea"/>
              <a:cs typeface="+mn-cs"/>
            </a:endParaRPr>
          </a:p>
        </p:txBody>
      </p:sp>
      <p:sp>
        <p:nvSpPr>
          <p:cNvPr id="49" name="Rectangle 48">
            <a:extLst>
              <a:ext uri="{FF2B5EF4-FFF2-40B4-BE49-F238E27FC236}">
                <a16:creationId xmlns:a16="http://schemas.microsoft.com/office/drawing/2014/main" id="{4260EDE0-989C-4E16-AF94-F652294D82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extBox 1">
            <a:extLst>
              <a:ext uri="{FF2B5EF4-FFF2-40B4-BE49-F238E27FC236}">
                <a16:creationId xmlns:a16="http://schemas.microsoft.com/office/drawing/2014/main" id="{1973B6F4-4882-AD89-146F-B10285A4EC70}"/>
              </a:ext>
            </a:extLst>
          </p:cNvPr>
          <p:cNvSpPr txBox="1"/>
          <p:nvPr/>
        </p:nvSpPr>
        <p:spPr>
          <a:xfrm>
            <a:off x="797859" y="1905000"/>
            <a:ext cx="10605247" cy="1015663"/>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IN" sz="6000" dirty="0">
                <a:latin typeface="Times New Roman" panose="02020603050405020304" pitchFamily="18" charset="0"/>
                <a:cs typeface="Times New Roman" panose="02020603050405020304" pitchFamily="18" charset="0"/>
              </a:rPr>
              <a:t>THANK YOU</a:t>
            </a:r>
          </a:p>
        </p:txBody>
      </p:sp>
      <p:sp>
        <p:nvSpPr>
          <p:cNvPr id="3" name="TextBox 2">
            <a:extLst>
              <a:ext uri="{FF2B5EF4-FFF2-40B4-BE49-F238E27FC236}">
                <a16:creationId xmlns:a16="http://schemas.microsoft.com/office/drawing/2014/main" id="{0606213F-9F7C-E2FE-C77E-3E37E257A6B6}"/>
              </a:ext>
            </a:extLst>
          </p:cNvPr>
          <p:cNvSpPr txBox="1"/>
          <p:nvPr/>
        </p:nvSpPr>
        <p:spPr>
          <a:xfrm>
            <a:off x="9135789" y="4553181"/>
            <a:ext cx="2491435"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BY : Patricia Stanley</a:t>
            </a:r>
          </a:p>
        </p:txBody>
      </p:sp>
    </p:spTree>
    <p:extLst>
      <p:ext uri="{BB962C8B-B14F-4D97-AF65-F5344CB8AC3E}">
        <p14:creationId xmlns:p14="http://schemas.microsoft.com/office/powerpoint/2010/main" val="21307421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 name="Rectangle 46">
            <a:extLst>
              <a:ext uri="{FF2B5EF4-FFF2-40B4-BE49-F238E27FC236}">
                <a16:creationId xmlns:a16="http://schemas.microsoft.com/office/drawing/2014/main" id="{FBDCECDC-EEE3-4128-AA5E-82A8C08796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Franklin Gothic Book" panose="020F0502020204030204"/>
              <a:ea typeface="+mn-ea"/>
              <a:cs typeface="+mn-cs"/>
            </a:endParaRPr>
          </a:p>
        </p:txBody>
      </p:sp>
      <p:sp>
        <p:nvSpPr>
          <p:cNvPr id="49" name="Rectangle 48">
            <a:extLst>
              <a:ext uri="{FF2B5EF4-FFF2-40B4-BE49-F238E27FC236}">
                <a16:creationId xmlns:a16="http://schemas.microsoft.com/office/drawing/2014/main" id="{4260EDE0-989C-4E16-AF94-F652294D82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4202107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 name="Rectangle 46">
            <a:extLst>
              <a:ext uri="{FF2B5EF4-FFF2-40B4-BE49-F238E27FC236}">
                <a16:creationId xmlns:a16="http://schemas.microsoft.com/office/drawing/2014/main" id="{FBDCECDC-EEE3-4128-AA5E-82A8C08796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Franklin Gothic Book" panose="020F0502020204030204"/>
              <a:ea typeface="+mn-ea"/>
              <a:cs typeface="+mn-cs"/>
            </a:endParaRPr>
          </a:p>
        </p:txBody>
      </p:sp>
      <p:sp>
        <p:nvSpPr>
          <p:cNvPr id="49" name="Rectangle 48">
            <a:extLst>
              <a:ext uri="{FF2B5EF4-FFF2-40B4-BE49-F238E27FC236}">
                <a16:creationId xmlns:a16="http://schemas.microsoft.com/office/drawing/2014/main" id="{4260EDE0-989C-4E16-AF94-F652294D82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353851804"/>
      </p:ext>
    </p:extLst>
  </p:cSld>
  <p:clrMapOvr>
    <a:masterClrMapping/>
  </p:clrMapOvr>
</p:sld>
</file>

<file path=ppt/theme/theme1.xml><?xml version="1.0" encoding="utf-8"?>
<a:theme xmlns:a="http://schemas.openxmlformats.org/drawingml/2006/main" name="Custom">
  <a:themeElements>
    <a:clrScheme name="Custom 37">
      <a:dk1>
        <a:srgbClr val="000000"/>
      </a:dk1>
      <a:lt1>
        <a:srgbClr val="FFFFFF"/>
      </a:lt1>
      <a:dk2>
        <a:srgbClr val="4A5356"/>
      </a:dk2>
      <a:lt2>
        <a:srgbClr val="E8E3CE"/>
      </a:lt2>
      <a:accent1>
        <a:srgbClr val="9BA8B7"/>
      </a:accent1>
      <a:accent2>
        <a:srgbClr val="E6A02E"/>
      </a:accent2>
      <a:accent3>
        <a:srgbClr val="BF6A3B"/>
      </a:accent3>
      <a:accent4>
        <a:srgbClr val="92987A"/>
      </a:accent4>
      <a:accent5>
        <a:srgbClr val="857659"/>
      </a:accent5>
      <a:accent6>
        <a:srgbClr val="A0988C"/>
      </a:accent6>
      <a:hlink>
        <a:srgbClr val="00B0F0"/>
      </a:hlink>
      <a:folHlink>
        <a:srgbClr val="738F97"/>
      </a:folHlink>
    </a:clrScheme>
    <a:fontScheme name="Retrospect">
      <a:majorFont>
        <a:latin typeface="Bookman Old Style"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TWO.pptx" id="{80AA9D2D-EE59-4148-A11E-A51EEE828B28}" vid="{AEAFD717-D3C8-4034-8F7E-D5220B0CCEB8}"/>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F4F4D41-822D-40F2-A7AC-E4E6CB36CA7A}">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19DAD249-BF80-48EF-9AFB-36A11BCDC2CE}">
  <ds:schemaRefs>
    <ds:schemaRef ds:uri="http://schemas.microsoft.com/sharepoint/v3/contenttype/forms"/>
  </ds:schemaRefs>
</ds:datastoreItem>
</file>

<file path=customXml/itemProps3.xml><?xml version="1.0" encoding="utf-8"?>
<ds:datastoreItem xmlns:ds="http://schemas.openxmlformats.org/officeDocument/2006/customXml" ds:itemID="{C5A59D56-2157-4202-9D02-F44E447A241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{1F18765E-6517-4ED9-A288-10D1A615AF70}tf56160789_win32</Template>
  <TotalTime>403</TotalTime>
  <Words>795</Words>
  <Application>Microsoft Office PowerPoint</Application>
  <PresentationFormat>Widescreen</PresentationFormat>
  <Paragraphs>71</Paragraphs>
  <Slides>14</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14</vt:i4>
      </vt:variant>
    </vt:vector>
  </HeadingPairs>
  <TitlesOfParts>
    <vt:vector size="23" baseType="lpstr">
      <vt:lpstr>Arial</vt:lpstr>
      <vt:lpstr>Bookman Old Style</vt:lpstr>
      <vt:lpstr>Calibri</vt:lpstr>
      <vt:lpstr>Courier New</vt:lpstr>
      <vt:lpstr>Franklin Gothic Book</vt:lpstr>
      <vt:lpstr>Symbol</vt:lpstr>
      <vt:lpstr>Times New Roman</vt:lpstr>
      <vt:lpstr>Wingdings</vt:lpstr>
      <vt:lpstr>Custom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Project Overview:</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Patricia S</dc:creator>
  <cp:lastModifiedBy>Patricia S</cp:lastModifiedBy>
  <cp:revision>10</cp:revision>
  <dcterms:created xsi:type="dcterms:W3CDTF">2024-08-07T14:30:00Z</dcterms:created>
  <dcterms:modified xsi:type="dcterms:W3CDTF">2024-08-08T12:21:00Z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